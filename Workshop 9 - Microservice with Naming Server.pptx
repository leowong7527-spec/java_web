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8" r:id="rId3"/>
    <p:sldId id="334" r:id="rId4"/>
    <p:sldId id="261" r:id="rId5"/>
    <p:sldId id="335" r:id="rId6"/>
    <p:sldId id="342" r:id="rId7"/>
    <p:sldId id="309" r:id="rId8"/>
    <p:sldId id="337" r:id="rId9"/>
    <p:sldId id="338" r:id="rId10"/>
    <p:sldId id="339" r:id="rId11"/>
    <p:sldId id="340" r:id="rId12"/>
    <p:sldId id="341" r:id="rId13"/>
    <p:sldId id="343" r:id="rId14"/>
    <p:sldId id="346" r:id="rId15"/>
    <p:sldId id="350" r:id="rId16"/>
    <p:sldId id="351" r:id="rId17"/>
    <p:sldId id="347" r:id="rId18"/>
    <p:sldId id="349" r:id="rId19"/>
    <p:sldId id="348" r:id="rId20"/>
    <p:sldId id="352" r:id="rId21"/>
    <p:sldId id="344" r:id="rId22"/>
    <p:sldId id="353" r:id="rId23"/>
    <p:sldId id="345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1"/>
    <p:restoredTop sz="93347"/>
  </p:normalViewPr>
  <p:slideViewPr>
    <p:cSldViewPr snapToGrid="0" snapToObjects="1">
      <p:cViewPr varScale="1">
        <p:scale>
          <a:sx n="143" d="100"/>
          <a:sy n="143" d="100"/>
        </p:scale>
        <p:origin x="23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769D1-4EAC-5849-9285-DA2E7EDFCBAF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F031-B3AD-5D40-A576-44FD2E1A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9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71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42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3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0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2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0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03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75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71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14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44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28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10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63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88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45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2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44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14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F031-B3AD-5D40-A576-44FD2E1AC30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5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8BAC-F0F0-D140-BF2E-B3702CB29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732AC-A06C-E54A-9A5B-2583FF412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9484-7141-284D-B429-426CC0FA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91167-0CE1-3A42-B600-0E293E13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1EE2F-1B1B-9740-A5B4-E1267CFE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5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6755-C7CA-E145-99FF-AA77EBB2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7488-85DE-8046-AD08-A375537B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2D56-3935-BB4D-B2AE-C4B88DB8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AC26-E266-E34A-AA71-ED1F3902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49D64-5D1C-084F-AFDC-CFFD36C2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8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764F-7996-9F4D-B0C3-CC7F432D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EE6F5-C9E0-4D47-AB9E-7C2C4AB9F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5D6EA-25D4-204A-B6E0-31621CC4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97E73-6C1D-CC4B-96E3-99520DA8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E11B-AA19-6749-9F07-D73EEC58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2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C51F-27E0-EC4D-B98C-4ADF48EB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913F-4D66-9244-9DDF-CB680A9E5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E172-2561-FA44-9DD3-8718A7DF4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54ECC-9AA2-444F-9195-5A8C5A2C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EE52-A17A-454B-A20E-99DA3670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B5C6F-B9A1-6448-96AD-27DC1F86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4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2D4A-BE2D-CE4B-BF27-CCFFC992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3B268-E289-294D-A294-F2B3D5205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18221-898D-EE4E-AF84-7F8B13248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507AF-5B83-F343-86B5-E707D7A6C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F3CE8-D1D0-7F40-9BA3-A4C7DDB37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2CB18-305A-A449-AA01-587D8271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45BC0-11D8-3847-BC99-181C2AE7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889C1-DBC9-D043-BB1D-8AEAFF45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5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65FE-3423-8741-A7E5-49C258AD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75ADD-36C2-DF49-8E71-656470F7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B4A63-D4FD-2745-B432-9F56B341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7452D-FF59-6C49-A9AD-CD292F54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8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8AB77-51A9-FA49-9EC1-95AF905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D3F6A-4AB4-9E40-9FAC-21BCD91F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4181A-B7E2-5B49-BCF0-A75959DC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3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502B-4683-B242-9BD8-935D347D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930A-781C-1249-BCAA-96DFA2BC5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7EC92-3D58-604B-8203-4E9660B78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FB4D5-5671-164F-B8CF-FE61F3D6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C8A9D-8578-0B4A-B005-6448E103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CA210-CD75-5249-B6D0-88B2F083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8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03F7-07B0-0044-A2EF-2F243A3C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F48DE-8921-2E47-997E-6AE3D28BB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FDF2C-25D5-AE48-96B2-FEB8B9619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479BB-CE52-894D-A0D5-A7A7A15E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1C909-898E-5444-A926-623D7D08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7A21A-D596-C948-80FD-A1CA8564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1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F26-6937-D347-A28C-6BC2C564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40D49-2ACE-1848-A982-463B0F8C2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8EBA9-5FFE-0542-8E77-C5A0E108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C7285-F6EA-6247-B9F8-A4E18E4B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BDE2F-F287-C340-B966-85E881A6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3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04045-3BE3-1F4F-9051-AEFCC6EED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0DA71-8C5E-824D-8178-C3F0CCBAE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C6F77-77F0-BB4B-BBF4-3CD7E35D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33A2-54DC-3348-AA75-6A10E581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E7DE9-E5A1-8443-95B5-3E185660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0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E99C7-3FA1-6E45-A973-E3A40427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31CD-4D7A-8C4A-993D-1EA91507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9D750-0840-5F44-89E2-1C77EBEA1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6436A-02A2-2B46-A7D2-EFE68E3BE6B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848E4-8516-B644-A655-97EED8ED4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17D13-8163-294B-85A7-34F059A44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6F5CF-3935-0245-A6AC-C9AEB5A0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4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0D2E-99F5-5F4E-AFB3-3D801C702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HK"/>
              <a:t>Workshop 9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662B5-2A02-CA4F-BF4A-8D066EAA0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Microservices with Spring Boot &amp; Eureka Naming Server</a:t>
            </a:r>
          </a:p>
        </p:txBody>
      </p:sp>
    </p:spTree>
    <p:extLst>
      <p:ext uri="{BB962C8B-B14F-4D97-AF65-F5344CB8AC3E}">
        <p14:creationId xmlns:p14="http://schemas.microsoft.com/office/powerpoint/2010/main" val="28343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D450-7081-FE4E-932B-A918D8DA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What is Eureka Naming Server?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3549-CB80-4243-BD06-D60D08E0C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GB" dirty="0"/>
              <a:t>Naming Server: The naming server is a computer application that implements a network service for responding to queries against a directory service.</a:t>
            </a:r>
          </a:p>
          <a:p>
            <a:pPr marL="0" lvl="0" indent="0">
              <a:buNone/>
            </a:pPr>
            <a:endParaRPr lang="en-GB" dirty="0"/>
          </a:p>
          <a:p>
            <a:pPr lvl="0"/>
            <a:r>
              <a:rPr lang="en-GB" dirty="0"/>
              <a:t>Eureka naming server is a REST-based server that is used in the AWS Cloud services for load balancing and failover of middle-tier services.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Microservices can discover each other with the help of the naming server using service name, it is not necessary to knowing each other’s actual IP address.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9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D450-7081-FE4E-932B-A918D8DA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What is Eureka Naming Server?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DE87A-D8B0-5BEE-2B75-F6C38903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101" y="1383832"/>
            <a:ext cx="5415797" cy="51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73DB-BCB7-C241-8EF2-FDD96D52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&amp; World Microservice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5826CB-9155-81EC-970B-1D30518D566B}"/>
              </a:ext>
            </a:extLst>
          </p:cNvPr>
          <p:cNvSpPr/>
          <p:nvPr/>
        </p:nvSpPr>
        <p:spPr>
          <a:xfrm>
            <a:off x="8041887" y="2174486"/>
            <a:ext cx="2308303" cy="125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HelloService</a:t>
            </a:r>
            <a:endParaRPr lang="en-US" dirty="0"/>
          </a:p>
          <a:p>
            <a:pPr algn="ctr"/>
            <a:r>
              <a:rPr lang="en-US" dirty="0"/>
              <a:t>(hello-service)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8D3845-6CB3-C861-19F5-30B214C8DE1A}"/>
              </a:ext>
            </a:extLst>
          </p:cNvPr>
          <p:cNvSpPr/>
          <p:nvPr/>
        </p:nvSpPr>
        <p:spPr>
          <a:xfrm>
            <a:off x="8041888" y="3706424"/>
            <a:ext cx="2308303" cy="125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WorldService</a:t>
            </a:r>
            <a:endParaRPr lang="en-US" dirty="0"/>
          </a:p>
          <a:p>
            <a:pPr algn="ctr"/>
            <a:r>
              <a:rPr lang="en-US" dirty="0"/>
              <a:t>(world-service)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73A816-9514-C691-11B1-566735BF0543}"/>
              </a:ext>
            </a:extLst>
          </p:cNvPr>
          <p:cNvSpPr/>
          <p:nvPr/>
        </p:nvSpPr>
        <p:spPr>
          <a:xfrm>
            <a:off x="5733585" y="5238362"/>
            <a:ext cx="2308303" cy="125451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NamingServer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A97BA0-33F8-967F-7D92-F88001FA1448}"/>
              </a:ext>
            </a:extLst>
          </p:cNvPr>
          <p:cNvSpPr/>
          <p:nvPr/>
        </p:nvSpPr>
        <p:spPr>
          <a:xfrm>
            <a:off x="3973551" y="2982099"/>
            <a:ext cx="2308303" cy="14114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HelloWorld</a:t>
            </a:r>
          </a:p>
          <a:p>
            <a:pPr algn="ctr"/>
            <a:r>
              <a:rPr lang="en-US" dirty="0"/>
              <a:t>Application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0539F7-664C-A31C-4C44-3FC215CE4B77}"/>
              </a:ext>
            </a:extLst>
          </p:cNvPr>
          <p:cNvCxnSpPr>
            <a:stCxn id="6" idx="3"/>
            <a:endCxn id="8" idx="0"/>
          </p:cNvCxnSpPr>
          <p:nvPr/>
        </p:nvCxnSpPr>
        <p:spPr>
          <a:xfrm flipH="1">
            <a:off x="6887737" y="3245280"/>
            <a:ext cx="1492193" cy="199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3AC4D3-9598-7A5A-F6DB-57F0D16EC92E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6887737" y="4777218"/>
            <a:ext cx="1492194" cy="46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EA9116-9EC3-4644-6EBA-BCF31D95384B}"/>
              </a:ext>
            </a:extLst>
          </p:cNvPr>
          <p:cNvCxnSpPr>
            <a:stCxn id="9" idx="4"/>
            <a:endCxn id="8" idx="1"/>
          </p:cNvCxnSpPr>
          <p:nvPr/>
        </p:nvCxnSpPr>
        <p:spPr>
          <a:xfrm>
            <a:off x="5127703" y="4393580"/>
            <a:ext cx="943925" cy="102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A470AC-19BD-635E-C055-1F03E28A2582}"/>
              </a:ext>
            </a:extLst>
          </p:cNvPr>
          <p:cNvCxnSpPr>
            <a:stCxn id="9" idx="6"/>
            <a:endCxn id="6" idx="2"/>
          </p:cNvCxnSpPr>
          <p:nvPr/>
        </p:nvCxnSpPr>
        <p:spPr>
          <a:xfrm flipV="1">
            <a:off x="6281854" y="2801743"/>
            <a:ext cx="1760033" cy="886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B92FB6-894E-622D-9C15-5AE6CAF3C7BE}"/>
              </a:ext>
            </a:extLst>
          </p:cNvPr>
          <p:cNvCxnSpPr>
            <a:stCxn id="9" idx="6"/>
            <a:endCxn id="7" idx="2"/>
          </p:cNvCxnSpPr>
          <p:nvPr/>
        </p:nvCxnSpPr>
        <p:spPr>
          <a:xfrm>
            <a:off x="6281854" y="3687840"/>
            <a:ext cx="1760034" cy="645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F0CF548-B115-BF5A-E87E-D5BB1DC1D28D}"/>
              </a:ext>
            </a:extLst>
          </p:cNvPr>
          <p:cNvSpPr/>
          <p:nvPr/>
        </p:nvSpPr>
        <p:spPr>
          <a:xfrm>
            <a:off x="785232" y="2982099"/>
            <a:ext cx="2308303" cy="14114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BECDF9-7503-87F1-1F3D-929CBF2B4414}"/>
              </a:ext>
            </a:extLst>
          </p:cNvPr>
          <p:cNvCxnSpPr>
            <a:cxnSpLocks/>
            <a:stCxn id="21" idx="6"/>
            <a:endCxn id="9" idx="2"/>
          </p:cNvCxnSpPr>
          <p:nvPr/>
        </p:nvCxnSpPr>
        <p:spPr>
          <a:xfrm>
            <a:off x="3093535" y="3687840"/>
            <a:ext cx="8800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68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and Configure </a:t>
            </a:r>
            <a:r>
              <a:rPr lang="en-US" dirty="0" err="1"/>
              <a:t>NamingServer</a:t>
            </a:r>
            <a:endParaRPr lang="en-US" dirty="0"/>
          </a:p>
          <a:p>
            <a:r>
              <a:rPr lang="en-US" dirty="0"/>
              <a:t>2. Create and Configure Hello Service</a:t>
            </a:r>
          </a:p>
          <a:p>
            <a:r>
              <a:rPr lang="en-US" dirty="0"/>
              <a:t>3. Create and Configure World Service</a:t>
            </a:r>
          </a:p>
          <a:p>
            <a:r>
              <a:rPr lang="en-US" dirty="0"/>
              <a:t>4. Create Hello World Application using Hello and World Service</a:t>
            </a:r>
          </a:p>
        </p:txBody>
      </p:sp>
    </p:spTree>
    <p:extLst>
      <p:ext uri="{BB962C8B-B14F-4D97-AF65-F5344CB8AC3E}">
        <p14:creationId xmlns:p14="http://schemas.microsoft.com/office/powerpoint/2010/main" val="247404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and Configure </a:t>
            </a:r>
            <a:r>
              <a:rPr lang="en-US" dirty="0" err="1"/>
              <a:t>NamingServer</a:t>
            </a:r>
            <a:endParaRPr lang="en-US" dirty="0"/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Create and Configure Hello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Create and Configure World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4. Create Hello World Application using Hello and World Service</a:t>
            </a:r>
          </a:p>
        </p:txBody>
      </p:sp>
    </p:spTree>
    <p:extLst>
      <p:ext uri="{BB962C8B-B14F-4D97-AF65-F5344CB8AC3E}">
        <p14:creationId xmlns:p14="http://schemas.microsoft.com/office/powerpoint/2010/main" val="172172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Naming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a Spring </a:t>
            </a:r>
            <a:r>
              <a:rPr lang="en-US" sz="2200" dirty="0" err="1"/>
              <a:t>Initialzr</a:t>
            </a:r>
            <a:r>
              <a:rPr lang="en-US" sz="2200" dirty="0"/>
              <a:t> Project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6A31E82-ECF0-017A-2DC9-9FC42969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07" y="2360565"/>
            <a:ext cx="6277053" cy="43296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6B9C6C-F4B0-D113-3F17-622F3BFCFD1E}"/>
              </a:ext>
            </a:extLst>
          </p:cNvPr>
          <p:cNvSpPr txBox="1"/>
          <p:nvPr/>
        </p:nvSpPr>
        <p:spPr>
          <a:xfrm>
            <a:off x="5229929" y="5233323"/>
            <a:ext cx="4187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58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Naming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Spring Boot Version: 3.2.4 &amp; Add Eureka Server as Dependencies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0581310-00E7-9D68-D652-D0ADBAA5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770" y="2354883"/>
            <a:ext cx="6157332" cy="41379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07F014-A291-FDDD-6DCC-2F092228E116}"/>
              </a:ext>
            </a:extLst>
          </p:cNvPr>
          <p:cNvSpPr txBox="1"/>
          <p:nvPr/>
        </p:nvSpPr>
        <p:spPr>
          <a:xfrm>
            <a:off x="5444860" y="2778825"/>
            <a:ext cx="6511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3.2.4</a:t>
            </a:r>
          </a:p>
        </p:txBody>
      </p:sp>
    </p:spTree>
    <p:extLst>
      <p:ext uri="{BB962C8B-B14F-4D97-AF65-F5344CB8AC3E}">
        <p14:creationId xmlns:p14="http://schemas.microsoft.com/office/powerpoint/2010/main" val="86265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Naming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a Spring </a:t>
            </a:r>
            <a:r>
              <a:rPr lang="en-US" sz="2200" dirty="0" err="1"/>
              <a:t>Initialzr</a:t>
            </a:r>
            <a:r>
              <a:rPr lang="en-US" sz="2200" dirty="0"/>
              <a:t> Project</a:t>
            </a:r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D544453-7AF3-45AA-DE7D-C66750F62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470" y="2474970"/>
            <a:ext cx="5899305" cy="4017905"/>
          </a:xfrm>
          <a:prstGeom prst="rect">
            <a:avLst/>
          </a:prstGeom>
        </p:spPr>
      </p:pic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76392BB-8195-B00B-A65A-B7D622C81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161" y="3747322"/>
            <a:ext cx="2794000" cy="147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799F2A-A1CB-FF6A-E019-3598FB355442}"/>
              </a:ext>
            </a:extLst>
          </p:cNvPr>
          <p:cNvSpPr txBox="1"/>
          <p:nvPr/>
        </p:nvSpPr>
        <p:spPr>
          <a:xfrm>
            <a:off x="8914161" y="5355459"/>
            <a:ext cx="2763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 Resolve Problem…</a:t>
            </a:r>
          </a:p>
          <a:p>
            <a:r>
              <a:rPr lang="en-US" dirty="0">
                <a:solidFill>
                  <a:srgbClr val="FF0000"/>
                </a:solidFill>
              </a:rPr>
              <a:t>In case the IDE prompt this </a:t>
            </a:r>
          </a:p>
          <a:p>
            <a:r>
              <a:rPr lang="en-US" dirty="0">
                <a:solidFill>
                  <a:srgbClr val="FF0000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36357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Naming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Setup </a:t>
            </a:r>
            <a:r>
              <a:rPr lang="en-US" sz="2200" dirty="0" err="1"/>
              <a:t>application.properties</a:t>
            </a:r>
            <a:r>
              <a:rPr lang="en-US" sz="2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0B852-D3F3-DEB4-A418-20900F864C93}"/>
              </a:ext>
            </a:extLst>
          </p:cNvPr>
          <p:cNvSpPr txBox="1"/>
          <p:nvPr/>
        </p:nvSpPr>
        <p:spPr>
          <a:xfrm>
            <a:off x="1563331" y="2344993"/>
            <a:ext cx="70207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# Set the port where Eureka Server will run</a:t>
            </a:r>
          </a:p>
          <a:p>
            <a:r>
              <a:rPr lang="en-GB" dirty="0" err="1"/>
              <a:t>server.port</a:t>
            </a:r>
            <a:r>
              <a:rPr lang="en-GB" dirty="0"/>
              <a:t>=8761</a:t>
            </a:r>
          </a:p>
          <a:p>
            <a:endParaRPr lang="en-GB" dirty="0"/>
          </a:p>
          <a:p>
            <a:r>
              <a:rPr lang="en-GB" dirty="0"/>
              <a:t># This app is a Eureka Server, not a client</a:t>
            </a:r>
          </a:p>
          <a:p>
            <a:r>
              <a:rPr lang="en-GB" dirty="0"/>
              <a:t># So it should not register itself or fetch the registry</a:t>
            </a:r>
          </a:p>
          <a:p>
            <a:r>
              <a:rPr lang="en-GB" dirty="0" err="1"/>
              <a:t>eureka.client.register</a:t>
            </a:r>
            <a:r>
              <a:rPr lang="en-GB" dirty="0"/>
              <a:t>-with-eureka=false</a:t>
            </a:r>
          </a:p>
          <a:p>
            <a:r>
              <a:rPr lang="en-GB" dirty="0" err="1"/>
              <a:t>eureka.client.fetch</a:t>
            </a:r>
            <a:r>
              <a:rPr lang="en-GB" dirty="0"/>
              <a:t>-registry=false</a:t>
            </a:r>
          </a:p>
          <a:p>
            <a:endParaRPr lang="en-GB" dirty="0"/>
          </a:p>
          <a:p>
            <a:r>
              <a:rPr lang="en-GB" dirty="0"/>
              <a:t># Optional (but useful)</a:t>
            </a:r>
          </a:p>
          <a:p>
            <a:r>
              <a:rPr lang="en-GB" dirty="0" err="1"/>
              <a:t>spring.application.name</a:t>
            </a:r>
            <a:r>
              <a:rPr lang="en-GB" dirty="0"/>
              <a:t>=eureka-server</a:t>
            </a:r>
          </a:p>
        </p:txBody>
      </p:sp>
    </p:spTree>
    <p:extLst>
      <p:ext uri="{BB962C8B-B14F-4D97-AF65-F5344CB8AC3E}">
        <p14:creationId xmlns:p14="http://schemas.microsoft.com/office/powerpoint/2010/main" val="34258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Naming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Update </a:t>
            </a:r>
            <a:r>
              <a:rPr lang="en-US" sz="2200" dirty="0" err="1"/>
              <a:t>NamingServerApplication.java</a:t>
            </a:r>
            <a:endParaRPr lang="en-US" sz="2200" dirty="0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D92DE89-EE88-EA06-E183-9E6EF684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69" y="2451475"/>
            <a:ext cx="9878061" cy="38601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6033F2-557D-9145-AB6B-9B101D07635A}"/>
              </a:ext>
            </a:extLst>
          </p:cNvPr>
          <p:cNvSpPr/>
          <p:nvPr/>
        </p:nvSpPr>
        <p:spPr>
          <a:xfrm>
            <a:off x="2976966" y="4602997"/>
            <a:ext cx="2462939" cy="3564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4F68D-6CCC-3573-78C9-378A9ECE4CF6}"/>
              </a:ext>
            </a:extLst>
          </p:cNvPr>
          <p:cNvSpPr txBox="1"/>
          <p:nvPr/>
        </p:nvSpPr>
        <p:spPr>
          <a:xfrm>
            <a:off x="8170607" y="1830009"/>
            <a:ext cx="2264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EnableEurekaServer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511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Naming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Start the service and check http://localhost:8761</a:t>
            </a:r>
          </a:p>
        </p:txBody>
      </p:sp>
      <p:pic>
        <p:nvPicPr>
          <p:cNvPr id="5" name="Picture 4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319D5387-5CBE-F4AC-5E51-D2BC5E085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144" y="2258436"/>
            <a:ext cx="5343758" cy="4323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9A67E8-D9A2-DA10-98B5-1757A3DD9CEC}"/>
              </a:ext>
            </a:extLst>
          </p:cNvPr>
          <p:cNvSpPr txBox="1"/>
          <p:nvPr/>
        </p:nvSpPr>
        <p:spPr>
          <a:xfrm>
            <a:off x="8686800" y="1306608"/>
            <a:ext cx="2281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http://localhost:8761/</a:t>
            </a:r>
          </a:p>
        </p:txBody>
      </p:sp>
    </p:spTree>
    <p:extLst>
      <p:ext uri="{BB962C8B-B14F-4D97-AF65-F5344CB8AC3E}">
        <p14:creationId xmlns:p14="http://schemas.microsoft.com/office/powerpoint/2010/main" val="1044865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1. Create and Configure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NamingServer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/>
              <a:t>2. Create and Configure Hello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Create and Configure World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4. Create Hello World Application using Hello and World Service</a:t>
            </a:r>
          </a:p>
        </p:txBody>
      </p:sp>
    </p:spTree>
    <p:extLst>
      <p:ext uri="{BB962C8B-B14F-4D97-AF65-F5344CB8AC3E}">
        <p14:creationId xmlns:p14="http://schemas.microsoft.com/office/powerpoint/2010/main" val="2044721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Project</a:t>
            </a: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E3014C2-D192-5CA0-0158-0C577343D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469" y="2346280"/>
            <a:ext cx="5919061" cy="41465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F18970-31ED-6B39-B622-DFA178328248}"/>
              </a:ext>
            </a:extLst>
          </p:cNvPr>
          <p:cNvSpPr txBox="1"/>
          <p:nvPr/>
        </p:nvSpPr>
        <p:spPr>
          <a:xfrm>
            <a:off x="5766397" y="5070763"/>
            <a:ext cx="4187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200943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Spring Boot Version 3.2.4, Must </a:t>
            </a:r>
            <a:r>
              <a:rPr lang="en-US" sz="2200" dirty="0">
                <a:solidFill>
                  <a:srgbClr val="FF0000"/>
                </a:solidFill>
              </a:rPr>
              <a:t>Add Eureka Discovery Client!!!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1761454-8EE4-742E-2937-372A37994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599" y="2322263"/>
            <a:ext cx="6654801" cy="45028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AEABC5-6BF1-A276-4DE3-BEB72C628253}"/>
              </a:ext>
            </a:extLst>
          </p:cNvPr>
          <p:cNvSpPr txBox="1"/>
          <p:nvPr/>
        </p:nvSpPr>
        <p:spPr>
          <a:xfrm>
            <a:off x="5893083" y="2778825"/>
            <a:ext cx="6511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3.2.4</a:t>
            </a:r>
          </a:p>
        </p:txBody>
      </p:sp>
    </p:spTree>
    <p:extLst>
      <p:ext uri="{BB962C8B-B14F-4D97-AF65-F5344CB8AC3E}">
        <p14:creationId xmlns:p14="http://schemas.microsoft.com/office/powerpoint/2010/main" val="4070433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Project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AEA8CBF-AD93-27CB-6B38-7AFD2190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615" y="2408335"/>
            <a:ext cx="6237314" cy="42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5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Update </a:t>
            </a:r>
            <a:r>
              <a:rPr lang="en-US" sz="2200" dirty="0" err="1"/>
              <a:t>HelloServiceApplication.java</a:t>
            </a:r>
            <a:endParaRPr lang="en-US" sz="2200" dirty="0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0ECB5B8-AB51-4B34-F266-B343A297D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12" y="2440074"/>
            <a:ext cx="11008672" cy="40528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7643ED-C6FE-C143-0710-9F86DF5FC955}"/>
              </a:ext>
            </a:extLst>
          </p:cNvPr>
          <p:cNvSpPr/>
          <p:nvPr/>
        </p:nvSpPr>
        <p:spPr>
          <a:xfrm>
            <a:off x="838200" y="4122549"/>
            <a:ext cx="2462939" cy="3564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32340-321C-7F7E-F76E-D6E8269D4F21}"/>
              </a:ext>
            </a:extLst>
          </p:cNvPr>
          <p:cNvSpPr txBox="1"/>
          <p:nvPr/>
        </p:nvSpPr>
        <p:spPr>
          <a:xfrm>
            <a:off x="817880" y="4126427"/>
            <a:ext cx="2462939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EnableDiscoveryClient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0EBF4-78DA-8346-3C83-6FDAFF206B47}"/>
              </a:ext>
            </a:extLst>
          </p:cNvPr>
          <p:cNvSpPr txBox="1"/>
          <p:nvPr/>
        </p:nvSpPr>
        <p:spPr>
          <a:xfrm>
            <a:off x="1666240" y="3425396"/>
            <a:ext cx="71526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org.springframework.cloud.client.discovery.EnableDiscoveryClient;</a:t>
            </a:r>
          </a:p>
        </p:txBody>
      </p:sp>
    </p:spTree>
    <p:extLst>
      <p:ext uri="{BB962C8B-B14F-4D97-AF65-F5344CB8AC3E}">
        <p14:creationId xmlns:p14="http://schemas.microsoft.com/office/powerpoint/2010/main" val="1638833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a Class </a:t>
            </a:r>
            <a:r>
              <a:rPr lang="en-US" sz="2200" dirty="0" err="1"/>
              <a:t>HelloController</a:t>
            </a:r>
            <a:endParaRPr lang="en-US" sz="2200" dirty="0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9B9948B-48C6-4D64-811B-3F0F01324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168" y="2527300"/>
            <a:ext cx="7735664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2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Setup </a:t>
            </a:r>
            <a:r>
              <a:rPr lang="en-US" sz="2200" dirty="0" err="1"/>
              <a:t>application.properties</a:t>
            </a:r>
            <a:r>
              <a:rPr lang="en-US" sz="2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AC38F-F237-FDDA-4C7A-320600B21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13" y="2587407"/>
            <a:ext cx="11540187" cy="13255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85BAC0-7DF7-44B6-EFF5-47FBBB3D3422}"/>
              </a:ext>
            </a:extLst>
          </p:cNvPr>
          <p:cNvSpPr txBox="1"/>
          <p:nvPr/>
        </p:nvSpPr>
        <p:spPr>
          <a:xfrm>
            <a:off x="1986969" y="4429794"/>
            <a:ext cx="64722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# Name of the service as it will appear in Eureka</a:t>
            </a:r>
          </a:p>
          <a:p>
            <a:r>
              <a:rPr lang="en-GB" dirty="0" err="1"/>
              <a:t>spring.application.name</a:t>
            </a:r>
            <a:r>
              <a:rPr lang="en-GB" dirty="0"/>
              <a:t>=hello-service</a:t>
            </a:r>
          </a:p>
          <a:p>
            <a:endParaRPr lang="en-GB" dirty="0"/>
          </a:p>
          <a:p>
            <a:r>
              <a:rPr lang="en-GB" dirty="0"/>
              <a:t># Port to run this microservice on</a:t>
            </a:r>
          </a:p>
          <a:p>
            <a:r>
              <a:rPr lang="en-GB" dirty="0" err="1"/>
              <a:t>server.port</a:t>
            </a:r>
            <a:r>
              <a:rPr lang="en-GB" dirty="0"/>
              <a:t>=8083</a:t>
            </a:r>
          </a:p>
          <a:p>
            <a:endParaRPr lang="en-GB" dirty="0"/>
          </a:p>
          <a:p>
            <a:r>
              <a:rPr lang="en-GB" dirty="0"/>
              <a:t># Eureka server URL for registration and discovery</a:t>
            </a:r>
          </a:p>
          <a:p>
            <a:r>
              <a:rPr lang="en-GB" dirty="0" err="1"/>
              <a:t>eureka.client.service-url.defaultZone</a:t>
            </a:r>
            <a:r>
              <a:rPr lang="en-GB" dirty="0"/>
              <a:t>=http://localhost:8761/eureka</a:t>
            </a:r>
          </a:p>
        </p:txBody>
      </p:sp>
    </p:spTree>
    <p:extLst>
      <p:ext uri="{BB962C8B-B14F-4D97-AF65-F5344CB8AC3E}">
        <p14:creationId xmlns:p14="http://schemas.microsoft.com/office/powerpoint/2010/main" val="4167352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Run the server and check Eureka Server (http://localhost:8761)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365B828-721D-E08B-1B50-816B3DCF5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939"/>
          <a:stretch/>
        </p:blipFill>
        <p:spPr>
          <a:xfrm>
            <a:off x="838200" y="2374793"/>
            <a:ext cx="10825648" cy="41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17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1. Create and Configure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NamingServer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Create and Configure Hello Service</a:t>
            </a:r>
          </a:p>
          <a:p>
            <a:r>
              <a:rPr lang="en-US" dirty="0"/>
              <a:t>3. Create and Configure World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4. Create Hello World Application using Hello and World Service</a:t>
            </a:r>
          </a:p>
        </p:txBody>
      </p:sp>
    </p:spTree>
    <p:extLst>
      <p:ext uri="{BB962C8B-B14F-4D97-AF65-F5344CB8AC3E}">
        <p14:creationId xmlns:p14="http://schemas.microsoft.com/office/powerpoint/2010/main" val="303602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World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Try to repeat the Step to create another project named </a:t>
            </a:r>
            <a:r>
              <a:rPr lang="en-US" sz="2200" dirty="0" err="1"/>
              <a:t>WorldService</a:t>
            </a:r>
            <a:endParaRPr lang="en-US" sz="2200" dirty="0"/>
          </a:p>
          <a:p>
            <a:pPr lvl="2"/>
            <a:r>
              <a:rPr lang="en-US" sz="1800" dirty="0"/>
              <a:t>Make the Spring Boot Application a </a:t>
            </a:r>
            <a:r>
              <a:rPr lang="en-US" sz="1800" b="1" u="sng" dirty="0"/>
              <a:t>Eureka Client (</a:t>
            </a:r>
            <a:r>
              <a:rPr lang="en-US" sz="1800" b="1" u="sng" dirty="0" err="1"/>
              <a:t>DiscoveryClient</a:t>
            </a:r>
            <a:r>
              <a:rPr lang="en-US" sz="1800" b="1" u="sng" dirty="0"/>
              <a:t>)</a:t>
            </a:r>
          </a:p>
          <a:p>
            <a:pPr lvl="2"/>
            <a:r>
              <a:rPr lang="en-US" sz="1800" dirty="0"/>
              <a:t>Create a </a:t>
            </a:r>
            <a:r>
              <a:rPr lang="en-US" sz="1800" dirty="0" err="1"/>
              <a:t>RestController</a:t>
            </a:r>
            <a:r>
              <a:rPr lang="en-US" sz="1800" dirty="0"/>
              <a:t> (</a:t>
            </a:r>
            <a:r>
              <a:rPr lang="en-US" sz="1800" dirty="0" err="1"/>
              <a:t>WorldController</a:t>
            </a:r>
            <a:r>
              <a:rPr lang="en-US" sz="1800" dirty="0"/>
              <a:t>), and define a </a:t>
            </a:r>
            <a:r>
              <a:rPr lang="en-US" sz="1800" dirty="0" err="1"/>
              <a:t>GetMapping</a:t>
            </a:r>
            <a:r>
              <a:rPr lang="en-US" sz="1800" dirty="0"/>
              <a:t> to /world, which will return the String “World”</a:t>
            </a:r>
          </a:p>
          <a:p>
            <a:pPr lvl="2"/>
            <a:r>
              <a:rPr lang="en-US" sz="1800" dirty="0"/>
              <a:t>Setting the server’s </a:t>
            </a:r>
            <a:r>
              <a:rPr lang="en-US" sz="1800" dirty="0" err="1"/>
              <a:t>application.properties</a:t>
            </a:r>
            <a:r>
              <a:rPr lang="en-US" sz="1800" dirty="0"/>
              <a:t> file with configuration shown below.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F703E-887E-2D56-791C-1B60C876F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28" y="4257896"/>
            <a:ext cx="11061572" cy="114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99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1. Create and Configure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NamingServer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Create and Configure Hello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Create and Configure World Service</a:t>
            </a:r>
          </a:p>
          <a:p>
            <a:r>
              <a:rPr lang="en-US" dirty="0"/>
              <a:t>4. Create Hello World Application using Hello and World Service</a:t>
            </a:r>
          </a:p>
        </p:txBody>
      </p:sp>
    </p:spTree>
    <p:extLst>
      <p:ext uri="{BB962C8B-B14F-4D97-AF65-F5344CB8AC3E}">
        <p14:creationId xmlns:p14="http://schemas.microsoft.com/office/powerpoint/2010/main" val="2392952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With the help of the Eureka Naming Server, we can make an application reference to the service name </a:t>
            </a:r>
            <a:r>
              <a:rPr lang="en-US" sz="2800" dirty="0" err="1"/>
              <a:t>url</a:t>
            </a:r>
            <a:r>
              <a:rPr lang="en-US" sz="2800" dirty="0"/>
              <a:t> without communicating with the microservices using IP address</a:t>
            </a:r>
          </a:p>
        </p:txBody>
      </p:sp>
    </p:spTree>
    <p:extLst>
      <p:ext uri="{BB962C8B-B14F-4D97-AF65-F5344CB8AC3E}">
        <p14:creationId xmlns:p14="http://schemas.microsoft.com/office/powerpoint/2010/main" val="1921072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a </a:t>
            </a:r>
            <a:r>
              <a:rPr lang="en-US" sz="2200" dirty="0" err="1"/>
              <a:t>HelloWorldApplication</a:t>
            </a:r>
            <a:endParaRPr lang="en-US" sz="2200" dirty="0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40E10F2-97F3-BBDE-FAD1-70475047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869" y="2370889"/>
            <a:ext cx="5988384" cy="4135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57DC26-7112-99E6-A69B-B1ED3984709C}"/>
              </a:ext>
            </a:extLst>
          </p:cNvPr>
          <p:cNvSpPr txBox="1"/>
          <p:nvPr/>
        </p:nvSpPr>
        <p:spPr>
          <a:xfrm>
            <a:off x="5827357" y="5070763"/>
            <a:ext cx="4187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87966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a </a:t>
            </a:r>
            <a:r>
              <a:rPr lang="en-US" sz="2200" dirty="0" err="1"/>
              <a:t>HelloWorldApplication</a:t>
            </a:r>
            <a:endParaRPr lang="en-US" sz="2200" dirty="0"/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AA58D24-FEEC-A70C-2161-EDB187AE8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2888"/>
            <a:ext cx="5220125" cy="3550817"/>
          </a:xfrm>
          <a:prstGeom prst="rect">
            <a:avLst/>
          </a:prstGeom>
        </p:spPr>
      </p:pic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77C8743-8C0C-6DEA-69BC-E59F4712E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211" y="2432888"/>
            <a:ext cx="5220125" cy="3559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1C20A7-039A-7DEC-8C78-0A219D930A4B}"/>
              </a:ext>
            </a:extLst>
          </p:cNvPr>
          <p:cNvSpPr txBox="1"/>
          <p:nvPr/>
        </p:nvSpPr>
        <p:spPr>
          <a:xfrm>
            <a:off x="3268636" y="2743199"/>
            <a:ext cx="6511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3.2.4</a:t>
            </a:r>
          </a:p>
        </p:txBody>
      </p:sp>
    </p:spTree>
    <p:extLst>
      <p:ext uri="{BB962C8B-B14F-4D97-AF65-F5344CB8AC3E}">
        <p14:creationId xmlns:p14="http://schemas.microsoft.com/office/powerpoint/2010/main" val="1857137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Setup the </a:t>
            </a:r>
            <a:r>
              <a:rPr lang="en-US" sz="2200" dirty="0" err="1"/>
              <a:t>application.properties</a:t>
            </a:r>
            <a:r>
              <a:rPr lang="en-US" sz="2200" dirty="0"/>
              <a:t> file</a:t>
            </a:r>
          </a:p>
        </p:txBody>
      </p:sp>
      <p:pic>
        <p:nvPicPr>
          <p:cNvPr id="6" name="Picture 5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CF034DC0-078E-4280-26AE-6F8FE1A1B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71" y="2686384"/>
            <a:ext cx="11221658" cy="198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20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At </a:t>
            </a:r>
            <a:r>
              <a:rPr lang="en-US" sz="2200" dirty="0" err="1"/>
              <a:t>HelloWorldApplication</a:t>
            </a:r>
            <a:r>
              <a:rPr lang="en-US" sz="2200" dirty="0"/>
              <a:t> .java setup a </a:t>
            </a:r>
            <a:r>
              <a:rPr lang="en-US" sz="2200" dirty="0" err="1"/>
              <a:t>RestTemplate</a:t>
            </a:r>
            <a:r>
              <a:rPr lang="en-US" sz="2200" dirty="0"/>
              <a:t> for retrieving return from other microservices (Will talk about it later)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1EB7CB6-6AF5-5139-A337-7F9CFC04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27" y="2467393"/>
            <a:ext cx="9970008" cy="3323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CE2B5C-0B09-C935-62E5-2D0CAE03A319}"/>
              </a:ext>
            </a:extLst>
          </p:cNvPr>
          <p:cNvSpPr txBox="1"/>
          <p:nvPr/>
        </p:nvSpPr>
        <p:spPr>
          <a:xfrm>
            <a:off x="3797285" y="5380672"/>
            <a:ext cx="79342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HK" dirty="0" err="1"/>
              <a:t>RestTemplate</a:t>
            </a:r>
            <a:r>
              <a:rPr lang="en-HK" dirty="0"/>
              <a:t> is a Spring tool used to make </a:t>
            </a:r>
            <a:r>
              <a:rPr lang="en-HK" b="1" dirty="0"/>
              <a:t>HTTP requests to other microservices</a:t>
            </a:r>
            <a:r>
              <a:rPr lang="en-H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@Bean makes this object available for the whole application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@</a:t>
            </a:r>
            <a:r>
              <a:rPr lang="en-HK" dirty="0" err="1"/>
              <a:t>LoadBalanced</a:t>
            </a:r>
            <a:r>
              <a:rPr lang="en-HK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 allowing you to call services by name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2544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Create </a:t>
            </a:r>
            <a:r>
              <a:rPr lang="en-US" sz="2200" dirty="0" err="1"/>
              <a:t>HelloWorldController</a:t>
            </a:r>
            <a:r>
              <a:rPr lang="en-US" sz="2200" dirty="0"/>
              <a:t> class, make use of the registered microservices using </a:t>
            </a:r>
            <a:r>
              <a:rPr lang="en-US" sz="2200" dirty="0" err="1"/>
              <a:t>RestTemplate</a:t>
            </a:r>
            <a:endParaRPr lang="en-US" sz="2200" dirty="0"/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B8CC1DF-CCDA-CD24-EF18-03CAD695C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03930"/>
            <a:ext cx="10246832" cy="378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46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 for Hello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Build and run the application  (http://localhost:8082)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42F4937-C246-8328-12B2-B2790BD82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168" y="2271629"/>
            <a:ext cx="7533106" cy="45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99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35-C106-B14F-8796-5537B56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9B91-B28A-224A-81C2-315DF8D72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1. Create and Configure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NamingServer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Create and Configure Hello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Create and Configure World Service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4. Create Hello World Application using Hello and World Service</a:t>
            </a:r>
          </a:p>
          <a:p>
            <a:r>
              <a:rPr lang="en-US" dirty="0"/>
              <a:t>5. Extra Task (optional): Try to integrate the Customer Service in WS9, using the </a:t>
            </a:r>
            <a:r>
              <a:rPr lang="en-US" dirty="0" err="1"/>
              <a:t>HelloWorldApplication</a:t>
            </a:r>
            <a:r>
              <a:rPr lang="en-US" dirty="0"/>
              <a:t> to draw any one (fixed id value is ok) customer JSON and show it after ”Hello World”. </a:t>
            </a:r>
          </a:p>
        </p:txBody>
      </p:sp>
    </p:spTree>
    <p:extLst>
      <p:ext uri="{BB962C8B-B14F-4D97-AF65-F5344CB8AC3E}">
        <p14:creationId xmlns:p14="http://schemas.microsoft.com/office/powerpoint/2010/main" val="241135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879</Words>
  <Application>Microsoft Macintosh PowerPoint</Application>
  <PresentationFormat>Widescreen</PresentationFormat>
  <Paragraphs>151</Paragraphs>
  <Slides>31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Workshop 9</vt:lpstr>
      <vt:lpstr>What is Eureka Naming Server?</vt:lpstr>
      <vt:lpstr>What is Eureka Naming Server?</vt:lpstr>
      <vt:lpstr>Hello &amp; World Microservice</vt:lpstr>
      <vt:lpstr>Tasks</vt:lpstr>
      <vt:lpstr>Tasks</vt:lpstr>
      <vt:lpstr>Create Project for Naming Server</vt:lpstr>
      <vt:lpstr>Create Project for Naming Server</vt:lpstr>
      <vt:lpstr>Create Project for Naming Server</vt:lpstr>
      <vt:lpstr>Create Project for Naming Server</vt:lpstr>
      <vt:lpstr>Create Project for Naming Server</vt:lpstr>
      <vt:lpstr>Create Project for Naming Server</vt:lpstr>
      <vt:lpstr>Tasks</vt:lpstr>
      <vt:lpstr>Create Project for Hello Service</vt:lpstr>
      <vt:lpstr>Create Project for Hello Service</vt:lpstr>
      <vt:lpstr>Create Project for Hello Service</vt:lpstr>
      <vt:lpstr>Create Project for Hello Service</vt:lpstr>
      <vt:lpstr>Create Project for Hello Service</vt:lpstr>
      <vt:lpstr>Create Project for Hello Service</vt:lpstr>
      <vt:lpstr>Create Project for Hello Service</vt:lpstr>
      <vt:lpstr>Tasks</vt:lpstr>
      <vt:lpstr>Create Project for World Service</vt:lpstr>
      <vt:lpstr>Tasks</vt:lpstr>
      <vt:lpstr>Hello World Application</vt:lpstr>
      <vt:lpstr>Create Project for Hello Service</vt:lpstr>
      <vt:lpstr>Create Project for Hello Service</vt:lpstr>
      <vt:lpstr>Create Project for Hello Service</vt:lpstr>
      <vt:lpstr>Create Project for Hello Service</vt:lpstr>
      <vt:lpstr>Create Project for Hello Service</vt:lpstr>
      <vt:lpstr>Create Project for Hello Service</vt:lpstr>
      <vt:lpstr>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with Spring Boot</dc:title>
  <dc:creator>SHUM LOK CHEUNG</dc:creator>
  <cp:lastModifiedBy>Jesse Shum (Student)</cp:lastModifiedBy>
  <cp:revision>131</cp:revision>
  <dcterms:created xsi:type="dcterms:W3CDTF">2022-01-03T07:46:28Z</dcterms:created>
  <dcterms:modified xsi:type="dcterms:W3CDTF">2025-04-11T09:22:45Z</dcterms:modified>
</cp:coreProperties>
</file>