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59" r:id="rId1"/>
  </p:sldMasterIdLst>
  <p:notesMasterIdLst>
    <p:notesMasterId r:id="rId46"/>
  </p:notesMasterIdLst>
  <p:sldIdLst>
    <p:sldId id="256" r:id="rId2"/>
    <p:sldId id="311" r:id="rId3"/>
    <p:sldId id="334" r:id="rId4"/>
    <p:sldId id="336" r:id="rId5"/>
    <p:sldId id="297" r:id="rId6"/>
    <p:sldId id="315" r:id="rId7"/>
    <p:sldId id="312" r:id="rId8"/>
    <p:sldId id="298" r:id="rId9"/>
    <p:sldId id="347" r:id="rId10"/>
    <p:sldId id="313" r:id="rId11"/>
    <p:sldId id="303" r:id="rId12"/>
    <p:sldId id="304" r:id="rId13"/>
    <p:sldId id="305" r:id="rId14"/>
    <p:sldId id="338" r:id="rId15"/>
    <p:sldId id="299" r:id="rId16"/>
    <p:sldId id="307" r:id="rId17"/>
    <p:sldId id="308" r:id="rId18"/>
    <p:sldId id="306" r:id="rId19"/>
    <p:sldId id="300" r:id="rId20"/>
    <p:sldId id="301" r:id="rId21"/>
    <p:sldId id="345" r:id="rId22"/>
    <p:sldId id="309" r:id="rId23"/>
    <p:sldId id="342" r:id="rId24"/>
    <p:sldId id="341" r:id="rId25"/>
    <p:sldId id="310" r:id="rId26"/>
    <p:sldId id="340" r:id="rId27"/>
    <p:sldId id="343" r:id="rId28"/>
    <p:sldId id="344" r:id="rId29"/>
    <p:sldId id="316" r:id="rId30"/>
    <p:sldId id="318" r:id="rId31"/>
    <p:sldId id="339" r:id="rId32"/>
    <p:sldId id="319" r:id="rId33"/>
    <p:sldId id="317" r:id="rId34"/>
    <p:sldId id="320" r:id="rId35"/>
    <p:sldId id="323" r:id="rId36"/>
    <p:sldId id="321" r:id="rId37"/>
    <p:sldId id="324" r:id="rId38"/>
    <p:sldId id="326" r:id="rId39"/>
    <p:sldId id="325" r:id="rId40"/>
    <p:sldId id="329" r:id="rId41"/>
    <p:sldId id="330" r:id="rId42"/>
    <p:sldId id="331" r:id="rId43"/>
    <p:sldId id="332" r:id="rId44"/>
    <p:sldId id="346" r:id="rId4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18"/>
    <p:restoredTop sz="85802" autoAdjust="0"/>
  </p:normalViewPr>
  <p:slideViewPr>
    <p:cSldViewPr>
      <p:cViewPr varScale="1">
        <p:scale>
          <a:sx n="121" d="100"/>
          <a:sy n="121" d="100"/>
        </p:scale>
        <p:origin x="356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Calibri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Calibri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E08DA44D-5D93-4164-B776-DD7C2438F388}" type="datetimeFigureOut">
              <a:rPr lang="zh-TW" altLang="en-US"/>
              <a:pPr>
                <a:defRPr/>
              </a:pPr>
              <a:t>2022/2/16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Calibri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Calibri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F33A17DA-8C9B-4635-9AA9-A81F6B991C9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94766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 </a:t>
            </a:r>
            <a:r>
              <a:rPr lang="en-HK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serialize</a:t>
            </a:r>
            <a:r>
              <a:rPr lang="en-H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 object means to convert its state to a byte stream so way that the byte stream can be reverted back into a copy of the object. A </a:t>
            </a:r>
            <a:r>
              <a:rPr lang="en-HK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en-H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object </a:t>
            </a:r>
            <a:r>
              <a:rPr lang="en-H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n-HK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serializable</a:t>
            </a:r>
            <a:r>
              <a:rPr lang="en-H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if its class or any of its </a:t>
            </a:r>
            <a:r>
              <a:rPr lang="en-H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superclasses</a:t>
            </a:r>
            <a:r>
              <a:rPr lang="en-H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implements either </a:t>
            </a:r>
            <a:r>
              <a:rPr lang="en-H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n-HK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en-H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.io.</a:t>
            </a:r>
            <a:r>
              <a:rPr lang="en-HK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Serializable</a:t>
            </a:r>
            <a:r>
              <a:rPr lang="en-H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interface or its </a:t>
            </a:r>
            <a:r>
              <a:rPr lang="en-H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subinterface</a:t>
            </a:r>
            <a:r>
              <a:rPr lang="en-H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HK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en-H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.io.Externalizable</a:t>
            </a:r>
            <a:r>
              <a:rPr lang="en-H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3A17DA-8C9B-4635-9AA9-A81F6B991C90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8140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 to the </a:t>
            </a:r>
            <a:r>
              <a:rPr lang="en-US" dirty="0" err="1"/>
              <a:t>studentByValue.jsp</a:t>
            </a:r>
            <a:r>
              <a:rPr lang="en-US" dirty="0"/>
              <a:t> and </a:t>
            </a:r>
            <a:r>
              <a:rPr lang="en-US" dirty="0" err="1"/>
              <a:t>StudentInfo.jsp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A17DA-8C9B-4635-9AA9-A81F6B991C90}" type="slidenum">
              <a:rPr lang="zh-TW" altLang="en-US" smtClean="0"/>
              <a:pPr>
                <a:defRPr/>
              </a:pPr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7056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A17DA-8C9B-4635-9AA9-A81F6B991C90}" type="slidenum">
              <a:rPr lang="zh-TW" altLang="en-US" smtClean="0"/>
              <a:pPr>
                <a:defRPr/>
              </a:pPr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1281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468F67-493A-46C8-BB86-386734A28F68}" type="datetimeFigureOut">
              <a:rPr lang="zh-TW" altLang="en-US" smtClean="0"/>
              <a:pPr>
                <a:defRPr/>
              </a:pPr>
              <a:t>2022/2/16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BDB8FF-872E-4E25-AC64-928BEE8AA2CE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67471D-2C18-42B3-91C4-2E83A97EFA6E}" type="datetimeFigureOut">
              <a:rPr lang="zh-TW" altLang="en-US" smtClean="0"/>
              <a:pPr>
                <a:defRPr/>
              </a:pPr>
              <a:t>2022/2/16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AFC244-DB3F-4CF2-AE61-394E711742D9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1574B0-B036-4A5B-A350-08D3EAFFDCBB}" type="datetimeFigureOut">
              <a:rPr lang="zh-TW" altLang="en-US" smtClean="0"/>
              <a:pPr>
                <a:defRPr/>
              </a:pPr>
              <a:t>2022/2/16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E5AE08-6F75-41BB-B9F8-EDEB9EA6A487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A9B272-E97B-470B-BBA8-660424A2507D}" type="datetimeFigureOut">
              <a:rPr lang="zh-TW" altLang="en-US" smtClean="0"/>
              <a:pPr>
                <a:defRPr/>
              </a:pPr>
              <a:t>2022/2/16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FD36B7-A062-456C-9070-C320F718351E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B39E71-5CFA-4307-B9DA-563C5780EA4A}" type="datetimeFigureOut">
              <a:rPr lang="zh-TW" altLang="en-US" smtClean="0"/>
              <a:pPr>
                <a:defRPr/>
              </a:pPr>
              <a:t>2022/2/16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9FDD27-94B2-4C25-A476-C869B86D1D90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ED30CF-F9AA-41BE-A30D-10B251689BD5}" type="datetimeFigureOut">
              <a:rPr lang="zh-TW" altLang="en-US" smtClean="0"/>
              <a:pPr>
                <a:defRPr/>
              </a:pPr>
              <a:t>2022/2/16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F080D8-CDD8-47BF-BA7E-B299E9DEE38D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8FE9AF-7870-4A7C-9367-ED52FCB74B2C}" type="datetimeFigureOut">
              <a:rPr lang="zh-TW" altLang="en-US" smtClean="0"/>
              <a:pPr>
                <a:defRPr/>
              </a:pPr>
              <a:t>2022/2/16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14DD96-4DDC-4E05-9331-53588E3CD0E6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ECCFCA6-8F4E-400B-8CC1-FBFFAFD5495D}" type="datetimeFigureOut">
              <a:rPr lang="zh-TW" altLang="en-US" smtClean="0"/>
              <a:pPr>
                <a:defRPr/>
              </a:pPr>
              <a:t>2022/2/16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FC6B15-23AB-4F26-81A0-3C30A8BCF7EF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2C7AE30-5E71-480A-AFCC-C9863AA51FC9}" type="datetimeFigureOut">
              <a:rPr lang="zh-TW" altLang="en-US" smtClean="0"/>
              <a:pPr>
                <a:defRPr/>
              </a:pPr>
              <a:t>2022/2/16</a:t>
            </a:fld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95EEA1-3F3C-4C5B-9B0A-4C4B026E4F58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4D824E-A396-4C43-966E-AF8A2F11715A}" type="datetimeFigureOut">
              <a:rPr lang="zh-TW" altLang="en-US" smtClean="0"/>
              <a:pPr>
                <a:defRPr/>
              </a:pPr>
              <a:t>2022/2/16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8D8971-A25E-4443-A64F-D59626D548FF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517BB5-5D04-4311-8247-E35B918671E8}" type="datetimeFigureOut">
              <a:rPr lang="zh-TW" altLang="en-US" smtClean="0"/>
              <a:pPr>
                <a:defRPr/>
              </a:pPr>
              <a:t>2022/2/16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5E0650-E77B-4094-A770-DB537116365A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4C8286D-09D2-4EA8-8D7E-4BBC7EBB59E5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C57725F3-DFAC-4613-86B4-043B43E7C993}" type="datetimeFigureOut">
              <a:rPr lang="zh-TW" altLang="en-US" smtClean="0"/>
              <a:pPr>
                <a:defRPr/>
              </a:pPr>
              <a:t>2022/2/16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0" r:id="rId1"/>
    <p:sldLayoutId id="2147484261" r:id="rId2"/>
    <p:sldLayoutId id="2147484262" r:id="rId3"/>
    <p:sldLayoutId id="2147484263" r:id="rId4"/>
    <p:sldLayoutId id="2147484264" r:id="rId5"/>
    <p:sldLayoutId id="2147484265" r:id="rId6"/>
    <p:sldLayoutId id="2147484266" r:id="rId7"/>
    <p:sldLayoutId id="2147484267" r:id="rId8"/>
    <p:sldLayoutId id="2147484268" r:id="rId9"/>
    <p:sldLayoutId id="2147484269" r:id="rId10"/>
    <p:sldLayoutId id="2147484270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jndi/tutorial/objects/storing/serial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Workshop 4</a:t>
            </a:r>
            <a:endParaRPr lang="zh-TW" alt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dirty="0"/>
              <a:t>JSP Action and Java bean</a:t>
            </a:r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Task1</a:t>
            </a:r>
          </a:p>
          <a:p>
            <a:pPr lvl="1"/>
            <a:r>
              <a:rPr lang="en-US" dirty="0"/>
              <a:t>Handle Calculator task using Java Bean and JSP Action</a:t>
            </a:r>
          </a:p>
          <a:p>
            <a:r>
              <a:rPr lang="en-US" dirty="0"/>
              <a:t>Task2</a:t>
            </a:r>
          </a:p>
          <a:p>
            <a:pPr lvl="1"/>
            <a:r>
              <a:rPr lang="en-US" dirty="0"/>
              <a:t>Handle Customer task using Java Bean and JSP Action </a:t>
            </a:r>
          </a:p>
          <a:p>
            <a:r>
              <a:rPr lang="en-US" dirty="0"/>
              <a:t>Task 3</a:t>
            </a:r>
          </a:p>
          <a:p>
            <a:pPr lvl="1"/>
            <a:r>
              <a:rPr lang="en-US" dirty="0"/>
              <a:t>Define template using </a:t>
            </a:r>
            <a:r>
              <a:rPr lang="en-US" dirty="0" err="1"/>
              <a:t>jsp:include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111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 a Web Application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Name </a:t>
            </a:r>
            <a:r>
              <a:rPr lang="en-US" dirty="0">
                <a:solidFill>
                  <a:srgbClr val="FF0000"/>
                </a:solidFill>
              </a:rPr>
              <a:t>WS4_YourStduent NO</a:t>
            </a:r>
          </a:p>
          <a:p>
            <a:r>
              <a:rPr lang="en-US" dirty="0"/>
              <a:t>Download the Workshop4_supp.zip. Unzip it and put the folder under the Web Pages. You will find the result as follows 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78" y="2852936"/>
            <a:ext cx="5085929" cy="2588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7964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 </a:t>
            </a:r>
            <a:r>
              <a:rPr lang="en-US" dirty="0" err="1"/>
              <a:t>index.jsp</a:t>
            </a:r>
            <a:r>
              <a:rPr lang="en-US" dirty="0"/>
              <a:t>  and add the following hyperlinks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7" y="1412776"/>
            <a:ext cx="8820472" cy="1813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226166"/>
            <a:ext cx="7128792" cy="4405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5443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Calculator Task  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7620000" cy="4800600"/>
          </a:xfrm>
        </p:spPr>
        <p:txBody>
          <a:bodyPr/>
          <a:lstStyle/>
          <a:p>
            <a:r>
              <a:rPr lang="en-US" altLang="zh-HK" dirty="0"/>
              <a:t>Create </a:t>
            </a:r>
            <a:r>
              <a:rPr lang="en-US" altLang="zh-HK" dirty="0" err="1"/>
              <a:t>calculateInput.jsp</a:t>
            </a:r>
            <a:r>
              <a:rPr lang="en-US" altLang="zh-HK" dirty="0"/>
              <a:t> </a:t>
            </a:r>
          </a:p>
          <a:p>
            <a:pPr lvl="1"/>
            <a:r>
              <a:rPr lang="en-US" altLang="zh-HK" dirty="0"/>
              <a:t>It is an input form</a:t>
            </a:r>
          </a:p>
          <a:p>
            <a:r>
              <a:rPr lang="en-US" altLang="zh-HK" dirty="0"/>
              <a:t>Create </a:t>
            </a:r>
            <a:r>
              <a:rPr lang="en-US" altLang="zh-HK" dirty="0" err="1"/>
              <a:t>calculate.jsp</a:t>
            </a:r>
            <a:r>
              <a:rPr lang="en-US" altLang="zh-HK" dirty="0"/>
              <a:t> </a:t>
            </a:r>
          </a:p>
          <a:p>
            <a:pPr lvl="1"/>
            <a:r>
              <a:rPr lang="en-US" altLang="zh-HK" dirty="0"/>
              <a:t>It uses JSP action to create a java bean</a:t>
            </a:r>
            <a:r>
              <a:rPr lang="en-US" altLang="zh-HK"/>
              <a:t>, ict.bean.CalculateBean</a:t>
            </a:r>
            <a:r>
              <a:rPr lang="en-US" altLang="zh-HK" dirty="0"/>
              <a:t>, and handle the calculation</a:t>
            </a:r>
          </a:p>
          <a:p>
            <a:r>
              <a:rPr lang="en-US" altLang="zh-HK" dirty="0"/>
              <a:t>Create a java class ict.bean.CalculateBean.java</a:t>
            </a:r>
          </a:p>
          <a:p>
            <a:r>
              <a:rPr lang="en-US" altLang="zh-HK" dirty="0"/>
              <a:t>Create a java class ict.util.CalculateHelper.java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calculateInput.jsp</a:t>
            </a:r>
            <a:endParaRPr lang="en-US" altLang="zh-H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When the submit button is clicked, request is sent to calculate.jsp.</a:t>
            </a:r>
          </a:p>
          <a:p>
            <a:r>
              <a:rPr lang="en-US" altLang="zh-TW"/>
              <a:t>Define two input boxes value1 and value2</a:t>
            </a:r>
          </a:p>
          <a:p>
            <a:r>
              <a:rPr lang="en-US" altLang="zh-TW"/>
              <a:t>Define a radio input boxes for different operator : add , subtract  and multiply.</a:t>
            </a:r>
          </a:p>
          <a:p>
            <a:r>
              <a:rPr lang="en-US" altLang="zh-TW"/>
              <a:t>Define one submit button </a:t>
            </a:r>
          </a:p>
          <a:p>
            <a:r>
              <a:rPr lang="en-US" altLang="zh-TW"/>
              <a:t>Define one reset button 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250" y="4005064"/>
            <a:ext cx="5232750" cy="2731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0880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ict.bean.</a:t>
            </a:r>
            <a:r>
              <a:rPr lang="en-US" sz="4800" dirty="0"/>
              <a:t>CalculateBean.java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09674"/>
            <a:ext cx="7053585" cy="5580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899592" y="2420888"/>
            <a:ext cx="5760640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`</a:t>
            </a:r>
          </a:p>
        </p:txBody>
      </p:sp>
    </p:spTree>
    <p:extLst>
      <p:ext uri="{BB962C8B-B14F-4D97-AF65-F5344CB8AC3E}">
        <p14:creationId xmlns:p14="http://schemas.microsoft.com/office/powerpoint/2010/main" val="4162973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CalculateBean</a:t>
            </a:r>
            <a:endParaRPr lang="en-US" altLang="zh-TW" dirty="0"/>
          </a:p>
        </p:txBody>
      </p:sp>
      <p:sp>
        <p:nvSpPr>
          <p:cNvPr id="11267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Define a bean CalculateBean.java user package </a:t>
            </a:r>
            <a:r>
              <a:rPr lang="en-US" altLang="zh-TW" dirty="0" err="1"/>
              <a:t>ict.bean</a:t>
            </a:r>
            <a:endParaRPr lang="en-US" altLang="zh-TW" dirty="0"/>
          </a:p>
          <a:p>
            <a:pPr lvl="1"/>
            <a:r>
              <a:rPr lang="en-US" altLang="zh-TW" dirty="0"/>
              <a:t>ict.bean.CalculateBean.java</a:t>
            </a:r>
          </a:p>
          <a:p>
            <a:r>
              <a:rPr lang="en-US" altLang="zh-TW" dirty="0"/>
              <a:t>The bean class </a:t>
            </a:r>
            <a:r>
              <a:rPr lang="en-US" altLang="zh-TW" dirty="0">
                <a:solidFill>
                  <a:srgbClr val="FF0000"/>
                </a:solidFill>
              </a:rPr>
              <a:t>implements Serializable </a:t>
            </a:r>
          </a:p>
          <a:p>
            <a:r>
              <a:rPr lang="en-US" altLang="zh-TW" dirty="0"/>
              <a:t>The bean </a:t>
            </a:r>
            <a:r>
              <a:rPr lang="en-US" altLang="zh-TW" b="1" dirty="0"/>
              <a:t>private</a:t>
            </a:r>
            <a:r>
              <a:rPr lang="en-US" altLang="zh-TW" dirty="0"/>
              <a:t> properties are follows:</a:t>
            </a:r>
          </a:p>
          <a:p>
            <a:pPr lvl="1"/>
            <a:r>
              <a:rPr lang="en-US" altLang="zh-HK" dirty="0"/>
              <a:t>value1 which type is an integer</a:t>
            </a:r>
          </a:p>
          <a:p>
            <a:pPr lvl="1"/>
            <a:r>
              <a:rPr lang="en-US" altLang="zh-HK" dirty="0"/>
              <a:t>value2 which type is an integer</a:t>
            </a:r>
          </a:p>
          <a:p>
            <a:pPr lvl="1"/>
            <a:r>
              <a:rPr lang="en-US" altLang="zh-HK" dirty="0"/>
              <a:t>operator which type is a String</a:t>
            </a:r>
          </a:p>
          <a:p>
            <a:r>
              <a:rPr lang="nb-NO" altLang="zh-TW" dirty="0"/>
              <a:t>Define </a:t>
            </a:r>
            <a:r>
              <a:rPr lang="nb-NO" altLang="zh-TW" b="1" dirty="0"/>
              <a:t>public </a:t>
            </a:r>
            <a:r>
              <a:rPr lang="nb-NO" altLang="zh-TW" dirty="0"/>
              <a:t>getter and setter for the properties</a:t>
            </a:r>
          </a:p>
          <a:p>
            <a:r>
              <a:rPr lang="nb-NO" altLang="zh-TW" dirty="0"/>
              <a:t>Define the </a:t>
            </a:r>
            <a:r>
              <a:rPr lang="nb-NO" altLang="zh-TW" dirty="0" err="1"/>
              <a:t>default</a:t>
            </a:r>
            <a:r>
              <a:rPr lang="nb-NO" altLang="zh-TW" dirty="0"/>
              <a:t> </a:t>
            </a:r>
            <a:r>
              <a:rPr lang="nb-NO" altLang="zh-TW" dirty="0" err="1"/>
              <a:t>constructor</a:t>
            </a:r>
            <a:endParaRPr lang="nb-NO" altLang="zh-TW" dirty="0"/>
          </a:p>
          <a:p>
            <a:r>
              <a:rPr lang="nb-NO" altLang="zh-TW" dirty="0"/>
              <a:t>The calculate () method uses the ict.util.CalculateHelper to perform calculation</a:t>
            </a:r>
          </a:p>
          <a:p>
            <a:endParaRPr lang="en-GB" altLang="zh-TW" dirty="0"/>
          </a:p>
          <a:p>
            <a:pPr lvl="1"/>
            <a:endParaRPr lang="nb-NO" altLang="zh-TW" dirty="0"/>
          </a:p>
          <a:p>
            <a:endParaRPr lang="en-US" altLang="zh-TW" dirty="0"/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fld id="{8A7973A4-4820-4194-8823-B4F23653B7E6}" type="slidenum">
              <a:rPr lang="en-US" altLang="zh-TW" smtClean="0"/>
              <a:pPr/>
              <a:t>8</a:t>
            </a:fld>
            <a:endParaRPr lang="en-US" altLang="zh-TW"/>
          </a:p>
        </p:txBody>
      </p:sp>
      <p:sp>
        <p:nvSpPr>
          <p:cNvPr id="11270" name="Line 5"/>
          <p:cNvSpPr>
            <a:spLocks noChangeShapeType="1"/>
          </p:cNvSpPr>
          <p:nvPr/>
        </p:nvSpPr>
        <p:spPr bwMode="auto">
          <a:xfrm>
            <a:off x="0" y="119697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BD077-0D1E-2647-BE65-6810E1B6F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Serializable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B8179-D592-C048-9DD9-F729D2355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To </a:t>
            </a:r>
            <a:r>
              <a:rPr lang="en-HK" b="1" dirty="0"/>
              <a:t>serialize</a:t>
            </a:r>
            <a:r>
              <a:rPr lang="en-HK" dirty="0"/>
              <a:t> an object means to convert its state to a byte stream so way that the byte stream can be reverted back into a copy of the object. A </a:t>
            </a:r>
            <a:r>
              <a:rPr lang="en-HK" b="1" dirty="0"/>
              <a:t>Java</a:t>
            </a:r>
            <a:r>
              <a:rPr lang="en-HK" dirty="0"/>
              <a:t> object is </a:t>
            </a:r>
            <a:r>
              <a:rPr lang="en-HK" b="1" dirty="0"/>
              <a:t>serializable</a:t>
            </a:r>
            <a:r>
              <a:rPr lang="en-HK" dirty="0"/>
              <a:t> if its class or any of its </a:t>
            </a:r>
            <a:r>
              <a:rPr lang="en-HK" dirty="0" err="1"/>
              <a:t>superclasses</a:t>
            </a:r>
            <a:r>
              <a:rPr lang="en-HK" dirty="0"/>
              <a:t> implements either the </a:t>
            </a:r>
            <a:r>
              <a:rPr lang="en-HK" b="1" dirty="0" err="1"/>
              <a:t>java</a:t>
            </a:r>
            <a:r>
              <a:rPr lang="en-HK" dirty="0" err="1"/>
              <a:t>.io.</a:t>
            </a:r>
            <a:r>
              <a:rPr lang="en-HK" b="1" dirty="0" err="1"/>
              <a:t>Serializable</a:t>
            </a:r>
            <a:r>
              <a:rPr lang="en-HK" dirty="0"/>
              <a:t> interface or its </a:t>
            </a:r>
            <a:r>
              <a:rPr lang="en-HK" dirty="0" err="1"/>
              <a:t>subinterface</a:t>
            </a:r>
            <a:r>
              <a:rPr lang="en-HK" dirty="0"/>
              <a:t>, </a:t>
            </a:r>
            <a:r>
              <a:rPr lang="en-HK" b="1" dirty="0" err="1"/>
              <a:t>java</a:t>
            </a:r>
            <a:r>
              <a:rPr lang="en-HK" dirty="0" err="1"/>
              <a:t>.io.Externalizable</a:t>
            </a:r>
            <a:r>
              <a:rPr lang="en-HK" dirty="0"/>
              <a:t>.</a:t>
            </a:r>
          </a:p>
          <a:p>
            <a:endParaRPr lang="en-HK" dirty="0"/>
          </a:p>
          <a:p>
            <a:endParaRPr lang="en-HK" dirty="0"/>
          </a:p>
          <a:p>
            <a:r>
              <a:rPr lang="en-HK" dirty="0"/>
              <a:t>Reference</a:t>
            </a:r>
          </a:p>
          <a:p>
            <a:r>
              <a:rPr lang="en-US" dirty="0">
                <a:hlinkClick r:id="rId2"/>
              </a:rPr>
              <a:t>https://docs.oracle.com/javase/jndi/tutorial/objects/storing/serial.html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213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ict.util.CalculateHelper.java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918" y="1412777"/>
            <a:ext cx="7584257" cy="357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8020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FF0000"/>
                </a:solidFill>
              </a:rPr>
              <a:t>calculate.jsp</a:t>
            </a:r>
            <a:r>
              <a:rPr lang="en-US" altLang="zh-TW" dirty="0"/>
              <a:t> using jsp Action 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HK" dirty="0"/>
          </a:p>
        </p:txBody>
      </p:sp>
      <p:sp>
        <p:nvSpPr>
          <p:cNvPr id="12292" name="TextBox 3"/>
          <p:cNvSpPr txBox="1">
            <a:spLocks noChangeArrowheads="1"/>
          </p:cNvSpPr>
          <p:nvPr/>
        </p:nvSpPr>
        <p:spPr bwMode="auto">
          <a:xfrm>
            <a:off x="755650" y="1989138"/>
            <a:ext cx="741675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HK" b="1" dirty="0">
                <a:latin typeface="Courier New" pitchFamily="49" charset="0"/>
                <a:cs typeface="Courier New" pitchFamily="49" charset="0"/>
              </a:rPr>
              <a:t>&lt;%--   use jsp action to create java bean of </a:t>
            </a:r>
            <a:r>
              <a:rPr lang="en-US" altLang="zh-HK" b="1" dirty="0" err="1">
                <a:latin typeface="Courier New" pitchFamily="49" charset="0"/>
                <a:cs typeface="Courier New" pitchFamily="49" charset="0"/>
              </a:rPr>
              <a:t>ict.bean.CalculateBean</a:t>
            </a:r>
            <a:r>
              <a:rPr lang="en-US" altLang="zh-HK" b="1" dirty="0">
                <a:latin typeface="Courier New" pitchFamily="49" charset="0"/>
                <a:cs typeface="Courier New" pitchFamily="49" charset="0"/>
              </a:rPr>
              <a:t> with id of </a:t>
            </a:r>
            <a:r>
              <a:rPr lang="en-US" altLang="zh-HK" b="1" dirty="0" err="1">
                <a:latin typeface="Courier New" pitchFamily="49" charset="0"/>
                <a:cs typeface="Courier New" pitchFamily="49" charset="0"/>
              </a:rPr>
              <a:t>cBean</a:t>
            </a:r>
            <a:r>
              <a:rPr lang="en-US" altLang="zh-HK" b="1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 eaLnBrk="1" hangingPunct="1"/>
            <a:r>
              <a:rPr lang="en-US" altLang="zh-HK" b="1" dirty="0">
                <a:latin typeface="Courier New" pitchFamily="49" charset="0"/>
                <a:cs typeface="Courier New" pitchFamily="49" charset="0"/>
              </a:rPr>
              <a:t>The scope is request</a:t>
            </a:r>
          </a:p>
          <a:p>
            <a:pPr eaLnBrk="1" hangingPunct="1"/>
            <a:endParaRPr lang="en-US" altLang="zh-HK" b="1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altLang="zh-HK" b="1" dirty="0">
                <a:latin typeface="Courier New" pitchFamily="49" charset="0"/>
                <a:cs typeface="Courier New" pitchFamily="49" charset="0"/>
              </a:rPr>
              <a:t> --%&gt;</a:t>
            </a:r>
          </a:p>
          <a:p>
            <a:pPr eaLnBrk="1" hangingPunct="1"/>
            <a:r>
              <a:rPr lang="en-US" altLang="zh-HK" b="1" dirty="0">
                <a:latin typeface="Courier New" pitchFamily="49" charset="0"/>
                <a:cs typeface="Courier New" pitchFamily="49" charset="0"/>
              </a:rPr>
              <a:t>&lt;%-- use jsp action to set property of the </a:t>
            </a:r>
            <a:r>
              <a:rPr lang="en-US" altLang="zh-HK" b="1" dirty="0" err="1">
                <a:latin typeface="Courier New" pitchFamily="49" charset="0"/>
                <a:cs typeface="Courier New" pitchFamily="49" charset="0"/>
              </a:rPr>
              <a:t>CalculateBean</a:t>
            </a:r>
            <a:r>
              <a:rPr lang="en-US" altLang="zh-HK" b="1" dirty="0">
                <a:latin typeface="Courier New" pitchFamily="49" charset="0"/>
                <a:cs typeface="Courier New" pitchFamily="49" charset="0"/>
              </a:rPr>
              <a:t> --%&gt;</a:t>
            </a:r>
          </a:p>
          <a:p>
            <a:pPr eaLnBrk="1" hangingPunct="1"/>
            <a:endParaRPr lang="en-US" altLang="zh-HK" b="1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altLang="zh-HK" b="1" dirty="0">
                <a:latin typeface="Courier New" pitchFamily="49" charset="0"/>
                <a:cs typeface="Courier New" pitchFamily="49" charset="0"/>
              </a:rPr>
              <a:t>&lt;%-- use jsp action to display property of the </a:t>
            </a:r>
            <a:r>
              <a:rPr lang="en-US" altLang="zh-HK" b="1" dirty="0" err="1">
                <a:latin typeface="Courier New" pitchFamily="49" charset="0"/>
                <a:cs typeface="Courier New" pitchFamily="49" charset="0"/>
              </a:rPr>
              <a:t>CalculateBean</a:t>
            </a:r>
            <a:r>
              <a:rPr lang="en-US" altLang="zh-HK" b="1" dirty="0">
                <a:latin typeface="Courier New" pitchFamily="49" charset="0"/>
                <a:cs typeface="Courier New" pitchFamily="49" charset="0"/>
              </a:rPr>
              <a:t> --%&gt;</a:t>
            </a:r>
          </a:p>
          <a:p>
            <a:pPr eaLnBrk="1" hangingPunct="1"/>
            <a:r>
              <a:rPr lang="en-US" altLang="zh-HK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br</a:t>
            </a:r>
            <a:r>
              <a:rPr lang="en-US" altLang="zh-HK" dirty="0">
                <a:latin typeface="Courier New" pitchFamily="49" charset="0"/>
                <a:cs typeface="Courier New" pitchFamily="49" charset="0"/>
              </a:rPr>
              <a:t>/&gt;</a:t>
            </a:r>
          </a:p>
          <a:p>
            <a:pPr eaLnBrk="1" hangingPunct="1"/>
            <a:r>
              <a:rPr lang="en-US" altLang="zh-HK" dirty="0">
                <a:latin typeface="Courier New" pitchFamily="49" charset="0"/>
                <a:cs typeface="Courier New" pitchFamily="49" charset="0"/>
              </a:rPr>
              <a:t>&lt;%-- </a:t>
            </a:r>
            <a:r>
              <a:rPr lang="en-US" altLang="zh-HK" b="1" dirty="0">
                <a:latin typeface="Courier New" pitchFamily="49" charset="0"/>
                <a:cs typeface="Courier New" pitchFamily="49" charset="0"/>
              </a:rPr>
              <a:t>display the result using </a:t>
            </a:r>
            <a:r>
              <a:rPr lang="en-US" altLang="zh-HK" b="1" dirty="0" err="1">
                <a:latin typeface="Courier New" pitchFamily="49" charset="0"/>
                <a:cs typeface="Courier New" pitchFamily="49" charset="0"/>
              </a:rPr>
              <a:t>jsp</a:t>
            </a:r>
            <a:r>
              <a:rPr lang="en-US" altLang="zh-HK" b="1" dirty="0">
                <a:latin typeface="Courier New" pitchFamily="49" charset="0"/>
                <a:cs typeface="Courier New" pitchFamily="49" charset="0"/>
              </a:rPr>
              <a:t> expression </a:t>
            </a:r>
            <a:r>
              <a:rPr lang="en-US" altLang="zh-HK" dirty="0">
                <a:latin typeface="Courier New" pitchFamily="49" charset="0"/>
                <a:cs typeface="Courier New" pitchFamily="49" charset="0"/>
              </a:rPr>
              <a:t>--%&gt;</a:t>
            </a:r>
          </a:p>
          <a:p>
            <a:pPr eaLnBrk="1" hangingPunct="1"/>
            <a:r>
              <a:rPr lang="en-US" altLang="zh-HK" dirty="0">
                <a:latin typeface="Courier New" pitchFamily="49" charset="0"/>
                <a:cs typeface="Courier New" pitchFamily="49" charset="0"/>
              </a:rPr>
              <a:t>The result is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Define </a:t>
            </a:r>
            <a:r>
              <a:rPr lang="en-US" altLang="zh-HK"/>
              <a:t>Calculate.jsp</a:t>
            </a:r>
            <a:endParaRPr lang="en-US" altLang="zh-HK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HK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8448675" cy="550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68313" y="0"/>
            <a:ext cx="8229600" cy="990600"/>
          </a:xfrm>
        </p:spPr>
        <p:txBody>
          <a:bodyPr/>
          <a:lstStyle/>
          <a:p>
            <a:r>
              <a:rPr lang="en-US" altLang="zh-HK" dirty="0"/>
              <a:t>Result displayed by </a:t>
            </a:r>
            <a:r>
              <a:rPr lang="en-US" altLang="zh-TW" dirty="0" err="1">
                <a:solidFill>
                  <a:srgbClr val="FF0000"/>
                </a:solidFill>
              </a:rPr>
              <a:t>Calculate.jsp</a:t>
            </a:r>
            <a:r>
              <a:rPr lang="en-US" altLang="zh-TW" dirty="0"/>
              <a:t>  using jsp action</a:t>
            </a:r>
            <a:endParaRPr lang="en-US" altLang="zh-HK" dirty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HK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84784"/>
            <a:ext cx="7968754" cy="5192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CustomerBean</a:t>
            </a:r>
            <a:r>
              <a:rPr lang="en-US" dirty="0"/>
              <a:t> with jsp Action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43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Task 2 - Customer Bean and </a:t>
            </a:r>
            <a:r>
              <a:rPr lang="en-US" altLang="zh-HK" dirty="0" err="1"/>
              <a:t>Jsp</a:t>
            </a:r>
            <a:r>
              <a:rPr lang="en-US" altLang="zh-HK" dirty="0"/>
              <a:t> Action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Define a java class ict.bean.CustomerBean.java</a:t>
            </a:r>
          </a:p>
          <a:p>
            <a:r>
              <a:rPr lang="en-US" altLang="zh-HK" dirty="0"/>
              <a:t>Define </a:t>
            </a:r>
            <a:r>
              <a:rPr lang="en-US" altLang="zh-HK" dirty="0" err="1"/>
              <a:t>editCustomer.jsp</a:t>
            </a:r>
            <a:r>
              <a:rPr lang="en-US" altLang="zh-HK" dirty="0"/>
              <a:t> </a:t>
            </a:r>
          </a:p>
          <a:p>
            <a:pPr lvl="1"/>
            <a:r>
              <a:rPr lang="en-US" altLang="zh-HK" dirty="0"/>
              <a:t>is an input form for collecting customer information</a:t>
            </a:r>
          </a:p>
          <a:p>
            <a:r>
              <a:rPr lang="en-US" altLang="zh-HK" dirty="0"/>
              <a:t>Define </a:t>
            </a:r>
            <a:r>
              <a:rPr lang="en-US" altLang="zh-HK" dirty="0" err="1"/>
              <a:t>handleCustomer.jsp</a:t>
            </a:r>
            <a:r>
              <a:rPr lang="en-US" altLang="zh-HK" dirty="0"/>
              <a:t> </a:t>
            </a:r>
          </a:p>
          <a:p>
            <a:pPr lvl="1"/>
            <a:r>
              <a:rPr lang="en-US" altLang="zh-HK" dirty="0"/>
              <a:t>use jsp action to create customer bean in request scope</a:t>
            </a:r>
          </a:p>
          <a:p>
            <a:pPr lvl="1"/>
            <a:r>
              <a:rPr lang="en-US" altLang="zh-HK" dirty="0"/>
              <a:t>display the current   inputted information </a:t>
            </a:r>
          </a:p>
          <a:p>
            <a:pPr lvl="1"/>
            <a:r>
              <a:rPr lang="en-US" altLang="zh-HK" dirty="0"/>
              <a:t>and all the customer information in a table format.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Sample Run – Input the first customer Information</a:t>
            </a:r>
          </a:p>
        </p:txBody>
      </p:sp>
      <p:sp>
        <p:nvSpPr>
          <p:cNvPr id="16387" name="Text Placeholder 1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/>
              <a:t>Input		</a:t>
            </a:r>
          </a:p>
        </p:txBody>
      </p:sp>
      <p:pic>
        <p:nvPicPr>
          <p:cNvPr id="16389" name="Picture 7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1675" y="2276475"/>
            <a:ext cx="3654425" cy="2593975"/>
          </a:xfrm>
          <a:noFill/>
        </p:spPr>
      </p:pic>
      <p:sp>
        <p:nvSpPr>
          <p:cNvPr id="16388" name="Text Placeholder 20"/>
          <p:cNvSpPr>
            <a:spLocks noGrp="1"/>
          </p:cNvSpPr>
          <p:nvPr>
            <p:ph type="body" sz="quarter" idx="3"/>
          </p:nvPr>
        </p:nvSpPr>
        <p:spPr>
          <a:xfrm>
            <a:off x="4427984" y="1464809"/>
            <a:ext cx="3657600" cy="639762"/>
          </a:xfrm>
        </p:spPr>
        <p:txBody>
          <a:bodyPr/>
          <a:lstStyle/>
          <a:p>
            <a:r>
              <a:rPr lang="en-US" altLang="zh-HK"/>
              <a:t>Expected Result</a:t>
            </a:r>
          </a:p>
        </p:txBody>
      </p:sp>
      <p:sp>
        <p:nvSpPr>
          <p:cNvPr id="16390" name="Content Placeholder 21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altLang="zh-HK"/>
          </a:p>
        </p:txBody>
      </p:sp>
      <p:pic>
        <p:nvPicPr>
          <p:cNvPr id="16391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2133600"/>
            <a:ext cx="3859212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Add 2</a:t>
            </a:r>
            <a:r>
              <a:rPr lang="en-US" altLang="zh-HK" baseline="30000"/>
              <a:t>nd</a:t>
            </a:r>
            <a:r>
              <a:rPr lang="en-US" altLang="zh-HK"/>
              <a:t> Customer information</a:t>
            </a:r>
          </a:p>
        </p:txBody>
      </p:sp>
      <p:sp>
        <p:nvSpPr>
          <p:cNvPr id="17411" name="Text Placeholder 1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/>
              <a:t>Input </a:t>
            </a:r>
          </a:p>
        </p:txBody>
      </p:sp>
      <p:pic>
        <p:nvPicPr>
          <p:cNvPr id="17413" name="Picture 7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924944"/>
            <a:ext cx="3272599" cy="2724993"/>
          </a:xfrm>
          <a:noFill/>
        </p:spPr>
      </p:pic>
      <p:sp>
        <p:nvSpPr>
          <p:cNvPr id="17412" name="Text Placeholder 1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HK"/>
              <a:t>Expected Result</a:t>
            </a:r>
          </a:p>
        </p:txBody>
      </p:sp>
      <p:pic>
        <p:nvPicPr>
          <p:cNvPr id="17414" name="Picture 9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675" y="2693194"/>
            <a:ext cx="2457450" cy="2914650"/>
          </a:xfr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CustomerBean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/>
              <a:t>Assume you have in a database. The customer table has the following 4 columns </a:t>
            </a:r>
          </a:p>
          <a:p>
            <a:pPr lvl="1"/>
            <a:r>
              <a:rPr lang="en-US" altLang="zh-HK"/>
              <a:t>CustId	5 characters</a:t>
            </a:r>
          </a:p>
          <a:p>
            <a:pPr lvl="1"/>
            <a:r>
              <a:rPr lang="en-US" altLang="zh-HK"/>
              <a:t>Name	25 characters</a:t>
            </a:r>
          </a:p>
          <a:p>
            <a:pPr lvl="1"/>
            <a:r>
              <a:rPr lang="en-US" altLang="zh-HK"/>
              <a:t>Tel	10 characters</a:t>
            </a:r>
          </a:p>
          <a:p>
            <a:pPr lvl="1"/>
            <a:r>
              <a:rPr lang="en-US" altLang="zh-HK"/>
              <a:t>Age	integer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Create a java class ict.beanCustomerBean.java</a:t>
            </a:r>
            <a:endParaRPr lang="zh-TW" altLang="en-US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457200" y="1277938"/>
            <a:ext cx="8229600" cy="4937125"/>
          </a:xfrm>
        </p:spPr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The  class </a:t>
            </a:r>
            <a:r>
              <a:rPr lang="en-US" altLang="zh-TW" dirty="0" err="1"/>
              <a:t>CustomerBean</a:t>
            </a:r>
            <a:r>
              <a:rPr lang="en-US" altLang="zh-TW" dirty="0"/>
              <a:t> is user package </a:t>
            </a:r>
            <a:r>
              <a:rPr lang="en-US" altLang="zh-TW" dirty="0" err="1"/>
              <a:t>ict.bean</a:t>
            </a:r>
            <a:endParaRPr lang="en-US" altLang="zh-TW" dirty="0"/>
          </a:p>
          <a:p>
            <a:pPr lvl="1"/>
            <a:r>
              <a:rPr lang="en-US" altLang="zh-TW" dirty="0" err="1"/>
              <a:t>ict.bean.CustomerBean</a:t>
            </a:r>
            <a:endParaRPr lang="en-US" altLang="zh-TW" dirty="0"/>
          </a:p>
          <a:p>
            <a:r>
              <a:rPr lang="en-US" altLang="zh-TW" dirty="0"/>
              <a:t>The bean </a:t>
            </a:r>
            <a:r>
              <a:rPr lang="en-US" altLang="zh-TW" b="1" dirty="0"/>
              <a:t>private</a:t>
            </a:r>
            <a:r>
              <a:rPr lang="en-US" altLang="zh-TW" dirty="0"/>
              <a:t> properties are follows</a:t>
            </a:r>
          </a:p>
          <a:p>
            <a:pPr lvl="1"/>
            <a:r>
              <a:rPr lang="en-US" altLang="zh-HK" dirty="0"/>
              <a:t>String </a:t>
            </a:r>
            <a:r>
              <a:rPr lang="en-US" altLang="zh-HK" dirty="0" err="1"/>
              <a:t>custId</a:t>
            </a:r>
            <a:r>
              <a:rPr lang="en-US" altLang="zh-HK" dirty="0"/>
              <a:t>	</a:t>
            </a:r>
          </a:p>
          <a:p>
            <a:pPr lvl="1"/>
            <a:r>
              <a:rPr lang="en-US" altLang="zh-HK" dirty="0"/>
              <a:t>String name	</a:t>
            </a:r>
          </a:p>
          <a:p>
            <a:pPr lvl="1"/>
            <a:r>
              <a:rPr lang="en-US" altLang="zh-HK" dirty="0"/>
              <a:t>String </a:t>
            </a:r>
            <a:r>
              <a:rPr lang="en-US" altLang="zh-HK" dirty="0" err="1"/>
              <a:t>tel</a:t>
            </a:r>
            <a:r>
              <a:rPr lang="en-US" altLang="zh-HK" dirty="0"/>
              <a:t>	</a:t>
            </a:r>
          </a:p>
          <a:p>
            <a:pPr lvl="1"/>
            <a:r>
              <a:rPr lang="en-US" altLang="zh-HK" dirty="0" err="1"/>
              <a:t>int</a:t>
            </a:r>
            <a:r>
              <a:rPr lang="en-US" altLang="zh-HK" dirty="0"/>
              <a:t> age	</a:t>
            </a:r>
          </a:p>
          <a:p>
            <a:pPr lvl="1"/>
            <a:r>
              <a:rPr lang="nb-NO" altLang="zh-TW" dirty="0"/>
              <a:t>Define </a:t>
            </a:r>
            <a:r>
              <a:rPr lang="nb-NO" altLang="zh-TW" b="1" dirty="0"/>
              <a:t>public</a:t>
            </a:r>
            <a:r>
              <a:rPr lang="nb-NO" altLang="zh-TW" dirty="0"/>
              <a:t> getter and setter for all </a:t>
            </a:r>
            <a:r>
              <a:rPr lang="nb-NO" altLang="zh-TW" dirty="0" err="1"/>
              <a:t>the</a:t>
            </a:r>
            <a:r>
              <a:rPr lang="nb-NO" altLang="zh-TW" dirty="0"/>
              <a:t> </a:t>
            </a:r>
            <a:r>
              <a:rPr lang="nb-NO" altLang="zh-TW" dirty="0" err="1"/>
              <a:t>properties</a:t>
            </a:r>
            <a:endParaRPr lang="nb-NO" altLang="zh-TW" dirty="0"/>
          </a:p>
          <a:p>
            <a:r>
              <a:rPr lang="nb-NO" altLang="zh-TW" dirty="0" err="1"/>
              <a:t>Define</a:t>
            </a:r>
            <a:r>
              <a:rPr lang="nb-NO" altLang="zh-TW" dirty="0"/>
              <a:t> a </a:t>
            </a:r>
            <a:r>
              <a:rPr lang="nb-NO" altLang="zh-TW" dirty="0" err="1"/>
              <a:t>default</a:t>
            </a:r>
            <a:r>
              <a:rPr lang="nb-NO" altLang="zh-TW" dirty="0"/>
              <a:t> </a:t>
            </a:r>
            <a:r>
              <a:rPr lang="nb-NO" altLang="zh-TW" dirty="0" err="1"/>
              <a:t>constructor</a:t>
            </a:r>
            <a:r>
              <a:rPr lang="nb-NO" altLang="zh-TW" dirty="0"/>
              <a:t> </a:t>
            </a:r>
          </a:p>
          <a:p>
            <a:endParaRPr lang="zh-TW" altLang="en-US" dirty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fld id="{14EDD36B-C4ED-4BBA-A2BF-875B2DE442E1}" type="slidenum">
              <a:rPr kumimoji="0" lang="zh-TW" altLang="en-US" smtClean="0">
                <a:solidFill>
                  <a:schemeClr val="tx2"/>
                </a:solidFill>
              </a:rPr>
              <a:pPr eaLnBrk="1" hangingPunct="1"/>
              <a:t>19</a:t>
            </a:fld>
            <a:endParaRPr kumimoji="0" lang="zh-TW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Define a editCustomer.jsp as follows  </a:t>
            </a:r>
          </a:p>
        </p:txBody>
      </p:sp>
      <p:pic>
        <p:nvPicPr>
          <p:cNvPr id="2048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7088" y="1916113"/>
            <a:ext cx="7400925" cy="3048000"/>
          </a:xfrm>
          <a:noFill/>
        </p:spPr>
      </p:pic>
      <p:sp>
        <p:nvSpPr>
          <p:cNvPr id="20484" name="TextBox 3"/>
          <p:cNvSpPr txBox="1">
            <a:spLocks noChangeArrowheads="1"/>
          </p:cNvSpPr>
          <p:nvPr/>
        </p:nvSpPr>
        <p:spPr bwMode="auto">
          <a:xfrm>
            <a:off x="1331913" y="5300663"/>
            <a:ext cx="52562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HK"/>
              <a:t>Action=handleCustomer.jsp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handleCustomer.jsp</a:t>
            </a:r>
          </a:p>
        </p:txBody>
      </p:sp>
      <p:sp>
        <p:nvSpPr>
          <p:cNvPr id="21507" name="TextBox 3"/>
          <p:cNvSpPr txBox="1">
            <a:spLocks noChangeArrowheads="1"/>
          </p:cNvSpPr>
          <p:nvPr/>
        </p:nvSpPr>
        <p:spPr bwMode="auto">
          <a:xfrm>
            <a:off x="504825" y="1412875"/>
            <a:ext cx="8243888" cy="563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HK" b="1" dirty="0"/>
              <a:t>&lt;!– write</a:t>
            </a:r>
            <a:r>
              <a:rPr lang="en-US" altLang="zh-HK" b="1" dirty="0">
                <a:solidFill>
                  <a:srgbClr val="FF0000"/>
                </a:solidFill>
              </a:rPr>
              <a:t> </a:t>
            </a:r>
            <a:r>
              <a:rPr lang="en-US" altLang="zh-HK" b="1" dirty="0" err="1">
                <a:solidFill>
                  <a:srgbClr val="FF0000"/>
                </a:solidFill>
              </a:rPr>
              <a:t>jsp</a:t>
            </a:r>
            <a:r>
              <a:rPr lang="en-US" altLang="zh-HK" b="1" dirty="0">
                <a:solidFill>
                  <a:srgbClr val="FF0000"/>
                </a:solidFill>
              </a:rPr>
              <a:t>  page directive</a:t>
            </a:r>
            <a:r>
              <a:rPr lang="en-US" altLang="zh-HK" b="1" dirty="0"/>
              <a:t> to </a:t>
            </a:r>
            <a:r>
              <a:rPr lang="en-US" altLang="zh-HK" b="1" dirty="0">
                <a:solidFill>
                  <a:srgbClr val="FF0000"/>
                </a:solidFill>
              </a:rPr>
              <a:t>import</a:t>
            </a:r>
            <a:r>
              <a:rPr lang="en-US" altLang="zh-HK" b="1" dirty="0"/>
              <a:t> java.util.* --&gt;</a:t>
            </a:r>
          </a:p>
          <a:p>
            <a:pPr eaLnBrk="1" hangingPunct="1"/>
            <a:r>
              <a:rPr lang="en-US" altLang="zh-HK" b="1" dirty="0"/>
              <a:t>&lt;!– write </a:t>
            </a:r>
            <a:r>
              <a:rPr lang="en-US" altLang="zh-HK" b="1" dirty="0" err="1">
                <a:solidFill>
                  <a:srgbClr val="FF0000"/>
                </a:solidFill>
              </a:rPr>
              <a:t>jsp</a:t>
            </a:r>
            <a:r>
              <a:rPr lang="en-US" altLang="zh-HK" b="1" dirty="0">
                <a:solidFill>
                  <a:srgbClr val="FF0000"/>
                </a:solidFill>
              </a:rPr>
              <a:t>  page directive </a:t>
            </a:r>
            <a:r>
              <a:rPr lang="en-US" altLang="zh-HK" b="1" dirty="0"/>
              <a:t>to </a:t>
            </a:r>
            <a:r>
              <a:rPr lang="en-US" altLang="zh-HK" b="1" dirty="0">
                <a:solidFill>
                  <a:srgbClr val="FF0000"/>
                </a:solidFill>
              </a:rPr>
              <a:t>import</a:t>
            </a:r>
            <a:r>
              <a:rPr lang="en-US" altLang="zh-HK" b="1" dirty="0"/>
              <a:t> </a:t>
            </a:r>
            <a:r>
              <a:rPr lang="en-US" altLang="zh-HK" b="1" dirty="0" err="1"/>
              <a:t>ict.bean.CustomerBean</a:t>
            </a:r>
            <a:r>
              <a:rPr lang="en-US" altLang="zh-HK" b="1" dirty="0"/>
              <a:t>--&gt;</a:t>
            </a:r>
          </a:p>
          <a:p>
            <a:pPr eaLnBrk="1" hangingPunct="1"/>
            <a:endParaRPr lang="en-US" altLang="zh-HK" b="1" dirty="0"/>
          </a:p>
          <a:p>
            <a:pPr eaLnBrk="1" hangingPunct="1"/>
            <a:r>
              <a:rPr lang="en-US" altLang="zh-HK" b="1" dirty="0"/>
              <a:t>&lt;!-- Use </a:t>
            </a:r>
            <a:r>
              <a:rPr lang="en-US" altLang="zh-HK" b="1" dirty="0" err="1">
                <a:solidFill>
                  <a:srgbClr val="FF0000"/>
                </a:solidFill>
              </a:rPr>
              <a:t>jsp</a:t>
            </a:r>
            <a:r>
              <a:rPr lang="en-US" altLang="zh-HK" b="1" dirty="0">
                <a:solidFill>
                  <a:srgbClr val="FF0000"/>
                </a:solidFill>
              </a:rPr>
              <a:t> declaration</a:t>
            </a:r>
            <a:r>
              <a:rPr lang="en-US" altLang="zh-HK" b="1" dirty="0"/>
              <a:t> to </a:t>
            </a:r>
            <a:r>
              <a:rPr lang="en-US" altLang="zh-HK" b="1" dirty="0">
                <a:solidFill>
                  <a:srgbClr val="FF0000"/>
                </a:solidFill>
              </a:rPr>
              <a:t>declare an </a:t>
            </a:r>
            <a:r>
              <a:rPr lang="en-US" altLang="zh-HK" b="1" dirty="0" err="1">
                <a:solidFill>
                  <a:srgbClr val="FF0000"/>
                </a:solidFill>
              </a:rPr>
              <a:t>ArrayList</a:t>
            </a:r>
            <a:r>
              <a:rPr lang="en-US" altLang="zh-HK" b="1" dirty="0">
                <a:solidFill>
                  <a:srgbClr val="FF0000"/>
                </a:solidFill>
              </a:rPr>
              <a:t>, customers</a:t>
            </a:r>
            <a:r>
              <a:rPr lang="en-US" altLang="zh-HK" b="1" dirty="0"/>
              <a:t>, </a:t>
            </a:r>
          </a:p>
          <a:p>
            <a:pPr eaLnBrk="1" hangingPunct="1"/>
            <a:r>
              <a:rPr lang="en-US" altLang="zh-HK" b="1" dirty="0"/>
              <a:t>It  temporarily stores all the inputted customer--&gt;</a:t>
            </a:r>
          </a:p>
          <a:p>
            <a:pPr eaLnBrk="1" hangingPunct="1"/>
            <a:endParaRPr lang="en-US" altLang="zh-HK" dirty="0"/>
          </a:p>
          <a:p>
            <a:pPr eaLnBrk="1" hangingPunct="1"/>
            <a:r>
              <a:rPr lang="en-US" altLang="zh-HK" dirty="0"/>
              <a:t>&lt;html&gt; &lt;head&gt; &lt;title&gt;Handle Customer&lt;/title&gt; &lt;/head&gt;    </a:t>
            </a:r>
          </a:p>
          <a:p>
            <a:pPr eaLnBrk="1" hangingPunct="1"/>
            <a:r>
              <a:rPr lang="en-US" altLang="zh-HK" dirty="0"/>
              <a:t>&lt;body&gt;</a:t>
            </a:r>
          </a:p>
          <a:p>
            <a:pPr eaLnBrk="1" hangingPunct="1"/>
            <a:r>
              <a:rPr lang="en-US" altLang="zh-HK" dirty="0"/>
              <a:t> </a:t>
            </a:r>
            <a:r>
              <a:rPr lang="en-US" altLang="zh-HK" b="1" dirty="0"/>
              <a:t>&lt;!--  use</a:t>
            </a:r>
            <a:r>
              <a:rPr lang="en-US" altLang="zh-HK" b="1" dirty="0">
                <a:solidFill>
                  <a:srgbClr val="FF0000"/>
                </a:solidFill>
              </a:rPr>
              <a:t> </a:t>
            </a:r>
            <a:r>
              <a:rPr lang="en-US" altLang="zh-HK" b="1" dirty="0" err="1">
                <a:solidFill>
                  <a:srgbClr val="FF0000"/>
                </a:solidFill>
              </a:rPr>
              <a:t>jsp</a:t>
            </a:r>
            <a:r>
              <a:rPr lang="en-US" altLang="zh-HK" b="1" dirty="0">
                <a:solidFill>
                  <a:srgbClr val="FF0000"/>
                </a:solidFill>
              </a:rPr>
              <a:t> </a:t>
            </a:r>
            <a:r>
              <a:rPr lang="en-US" altLang="zh-HK" b="1" dirty="0" err="1">
                <a:solidFill>
                  <a:srgbClr val="FF0000"/>
                </a:solidFill>
              </a:rPr>
              <a:t>useBean</a:t>
            </a:r>
            <a:r>
              <a:rPr lang="en-US" altLang="zh-HK" b="1" dirty="0">
                <a:solidFill>
                  <a:srgbClr val="FF0000"/>
                </a:solidFill>
              </a:rPr>
              <a:t> action</a:t>
            </a:r>
            <a:r>
              <a:rPr lang="en-US" altLang="zh-HK" b="1" dirty="0"/>
              <a:t> to create a </a:t>
            </a:r>
            <a:r>
              <a:rPr lang="en-US" altLang="zh-HK" b="1" dirty="0" err="1"/>
              <a:t>ict.bean.CustomerBean</a:t>
            </a:r>
            <a:r>
              <a:rPr lang="en-US" altLang="zh-HK" b="1" dirty="0"/>
              <a:t> with id ‘c’--&gt;</a:t>
            </a:r>
          </a:p>
          <a:p>
            <a:pPr eaLnBrk="1" hangingPunct="1"/>
            <a:r>
              <a:rPr lang="en-US" altLang="zh-HK" b="1" dirty="0"/>
              <a:t>&lt;!--  use </a:t>
            </a:r>
            <a:r>
              <a:rPr lang="en-US" altLang="zh-HK" b="1" dirty="0" err="1">
                <a:solidFill>
                  <a:srgbClr val="FF0000"/>
                </a:solidFill>
              </a:rPr>
              <a:t>jsp</a:t>
            </a:r>
            <a:r>
              <a:rPr lang="en-US" altLang="zh-HK" b="1" dirty="0">
                <a:solidFill>
                  <a:srgbClr val="FF0000"/>
                </a:solidFill>
              </a:rPr>
              <a:t> </a:t>
            </a:r>
            <a:r>
              <a:rPr lang="en-US" altLang="zh-HK" b="1" dirty="0" err="1">
                <a:solidFill>
                  <a:srgbClr val="FF0000"/>
                </a:solidFill>
              </a:rPr>
              <a:t>setProperty</a:t>
            </a:r>
            <a:r>
              <a:rPr lang="en-US" altLang="zh-HK" b="1" dirty="0">
                <a:solidFill>
                  <a:srgbClr val="FF0000"/>
                </a:solidFill>
              </a:rPr>
              <a:t> action</a:t>
            </a:r>
            <a:r>
              <a:rPr lang="en-US" altLang="zh-HK" b="1" dirty="0"/>
              <a:t> to obtain value from input form --&gt;</a:t>
            </a:r>
          </a:p>
          <a:p>
            <a:pPr eaLnBrk="1" hangingPunct="1"/>
            <a:r>
              <a:rPr lang="en-US" altLang="zh-HK" b="1" dirty="0"/>
              <a:t>&lt;!--  use </a:t>
            </a:r>
            <a:r>
              <a:rPr lang="en-US" altLang="zh-HK" b="1" dirty="0" err="1">
                <a:solidFill>
                  <a:srgbClr val="FF0000"/>
                </a:solidFill>
              </a:rPr>
              <a:t>jsp</a:t>
            </a:r>
            <a:r>
              <a:rPr lang="en-US" altLang="zh-HK" b="1" dirty="0">
                <a:solidFill>
                  <a:srgbClr val="FF0000"/>
                </a:solidFill>
              </a:rPr>
              <a:t> </a:t>
            </a:r>
            <a:r>
              <a:rPr lang="en-US" altLang="zh-HK" b="1" dirty="0" err="1">
                <a:solidFill>
                  <a:srgbClr val="FF0000"/>
                </a:solidFill>
              </a:rPr>
              <a:t>getProperty</a:t>
            </a:r>
            <a:r>
              <a:rPr lang="en-US" altLang="zh-HK" b="1" dirty="0">
                <a:solidFill>
                  <a:srgbClr val="FF0000"/>
                </a:solidFill>
              </a:rPr>
              <a:t> action</a:t>
            </a:r>
            <a:r>
              <a:rPr lang="en-US" altLang="zh-HK" b="1" dirty="0"/>
              <a:t> to display current inputted value--&gt;</a:t>
            </a:r>
          </a:p>
          <a:p>
            <a:pPr eaLnBrk="1" hangingPunct="1"/>
            <a:endParaRPr lang="en-US" altLang="zh-HK" b="1" dirty="0"/>
          </a:p>
          <a:p>
            <a:pPr eaLnBrk="1" hangingPunct="1"/>
            <a:r>
              <a:rPr lang="en-US" altLang="zh-HK" dirty="0"/>
              <a:t>&lt;% </a:t>
            </a:r>
            <a:endParaRPr lang="en-US" altLang="zh-HK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HK" b="1" dirty="0">
                <a:solidFill>
                  <a:srgbClr val="FF0000"/>
                </a:solidFill>
              </a:rPr>
              <a:t>// add the customer, </a:t>
            </a:r>
            <a:r>
              <a:rPr lang="en-US" altLang="zh-HK" b="1" i="1" dirty="0">
                <a:solidFill>
                  <a:srgbClr val="FF0000"/>
                </a:solidFill>
              </a:rPr>
              <a:t>c</a:t>
            </a:r>
            <a:r>
              <a:rPr lang="en-US" altLang="zh-HK" b="1" dirty="0">
                <a:solidFill>
                  <a:srgbClr val="FF0000"/>
                </a:solidFill>
              </a:rPr>
              <a:t>, to the </a:t>
            </a:r>
            <a:r>
              <a:rPr lang="en-US" altLang="zh-HK" b="1" i="1" dirty="0">
                <a:solidFill>
                  <a:srgbClr val="FF0000"/>
                </a:solidFill>
              </a:rPr>
              <a:t>customers</a:t>
            </a:r>
            <a:r>
              <a:rPr lang="en-US" altLang="zh-HK" b="1" dirty="0">
                <a:solidFill>
                  <a:srgbClr val="FF0000"/>
                </a:solidFill>
              </a:rPr>
              <a:t> </a:t>
            </a:r>
            <a:r>
              <a:rPr lang="en-US" altLang="zh-HK" b="1" dirty="0" err="1">
                <a:solidFill>
                  <a:srgbClr val="FF0000"/>
                </a:solidFill>
              </a:rPr>
              <a:t>ArrayList</a:t>
            </a:r>
            <a:endParaRPr lang="en-US" altLang="zh-HK" b="1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HK" b="1" dirty="0">
                <a:solidFill>
                  <a:srgbClr val="FF0000"/>
                </a:solidFill>
              </a:rPr>
              <a:t>// display all the customers in a table format</a:t>
            </a:r>
          </a:p>
          <a:p>
            <a:pPr eaLnBrk="1" hangingPunct="1"/>
            <a:r>
              <a:rPr lang="en-US" altLang="zh-HK" b="1" dirty="0">
                <a:solidFill>
                  <a:srgbClr val="FF0000"/>
                </a:solidFill>
              </a:rPr>
              <a:t>// show a hyperlink to ask user to input again</a:t>
            </a:r>
          </a:p>
          <a:p>
            <a:pPr eaLnBrk="1" hangingPunct="1"/>
            <a:r>
              <a:rPr lang="en-US" altLang="zh-HK" dirty="0"/>
              <a:t>%&gt;</a:t>
            </a:r>
          </a:p>
          <a:p>
            <a:pPr eaLnBrk="1" hangingPunct="1"/>
            <a:r>
              <a:rPr lang="en-US" altLang="zh-HK" dirty="0"/>
              <a:t>    &lt;/body&gt;</a:t>
            </a:r>
          </a:p>
          <a:p>
            <a:pPr eaLnBrk="1" hangingPunct="1"/>
            <a:r>
              <a:rPr lang="en-US" altLang="zh-HK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2558449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標楷體" pitchFamily="65" charset="-120"/>
              </a:rPr>
              <a:t>Demo Your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 define the scope the </a:t>
            </a:r>
            <a:r>
              <a:rPr lang="en-US" dirty="0" err="1"/>
              <a:t>ArrayList</a:t>
            </a:r>
            <a:r>
              <a:rPr lang="en-US" dirty="0"/>
              <a:t> of customer with </a:t>
            </a:r>
            <a:r>
              <a:rPr lang="en-US" dirty="0" err="1"/>
              <a:t>jsp:useBean</a:t>
            </a:r>
            <a:r>
              <a:rPr lang="en-US" dirty="0"/>
              <a:t> action </a:t>
            </a:r>
            <a:r>
              <a:rPr lang="en-US" dirty="0">
                <a:solidFill>
                  <a:srgbClr val="FF0000"/>
                </a:solidFill>
              </a:rPr>
              <a:t>(Enhanced Version)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>
                <a:ea typeface="新細明體" charset="-120"/>
              </a:rPr>
              <a:t>Make a copy of </a:t>
            </a:r>
            <a:r>
              <a:rPr lang="en-US" dirty="0" err="1">
                <a:ea typeface="新細明體" charset="-120"/>
              </a:rPr>
              <a:t>handleCustomer.jsp</a:t>
            </a:r>
            <a:r>
              <a:rPr lang="en-US" dirty="0">
                <a:ea typeface="新細明體" charset="-120"/>
              </a:rPr>
              <a:t> and named it with handleCustomer2.jsp </a:t>
            </a:r>
            <a:endParaRPr lang="en-US" dirty="0"/>
          </a:p>
          <a:p>
            <a:r>
              <a:rPr lang="en-US" dirty="0"/>
              <a:t>Remove </a:t>
            </a:r>
            <a:r>
              <a:rPr lang="en-US" dirty="0" err="1"/>
              <a:t>ArrayList</a:t>
            </a:r>
            <a:r>
              <a:rPr lang="en-US" dirty="0"/>
              <a:t> customer from the JSP declaration block</a:t>
            </a:r>
          </a:p>
          <a:p>
            <a:r>
              <a:rPr lang="en-US" dirty="0"/>
              <a:t>and replace it with </a:t>
            </a:r>
            <a:r>
              <a:rPr lang="en-US" dirty="0" err="1"/>
              <a:t>jsp</a:t>
            </a:r>
            <a:r>
              <a:rPr lang="en-US" dirty="0"/>
              <a:t> action &lt;</a:t>
            </a:r>
            <a:r>
              <a:rPr lang="en-US" dirty="0" err="1"/>
              <a:t>jsp:useBean</a:t>
            </a:r>
            <a:r>
              <a:rPr lang="en-US" dirty="0"/>
              <a:t> &gt; </a:t>
            </a:r>
          </a:p>
          <a:p>
            <a:r>
              <a:rPr lang="en-US" dirty="0">
                <a:ea typeface="新細明體" charset="-120"/>
              </a:rPr>
              <a:t>You will have two </a:t>
            </a:r>
            <a:r>
              <a:rPr lang="en-US" dirty="0" err="1">
                <a:ea typeface="新細明體" charset="-120"/>
              </a:rPr>
              <a:t>jsp:useBean</a:t>
            </a:r>
            <a:r>
              <a:rPr lang="en-US" dirty="0">
                <a:ea typeface="新細明體" charset="-120"/>
              </a:rPr>
              <a:t> actions</a:t>
            </a:r>
          </a:p>
          <a:p>
            <a:pPr lvl="1"/>
            <a:r>
              <a:rPr lang="en-US" dirty="0" err="1">
                <a:ea typeface="新細明體" charset="-120"/>
              </a:rPr>
              <a:t>Customer</a:t>
            </a:r>
            <a:r>
              <a:rPr lang="en-US" dirty="0" err="1">
                <a:solidFill>
                  <a:srgbClr val="FF0000"/>
                </a:solidFill>
                <a:ea typeface="新細明體" charset="-120"/>
              </a:rPr>
              <a:t>s</a:t>
            </a:r>
            <a:r>
              <a:rPr lang="en-US" dirty="0" err="1">
                <a:ea typeface="新細明體" charset="-120"/>
              </a:rPr>
              <a:t>Bean</a:t>
            </a:r>
            <a:r>
              <a:rPr lang="en-US" dirty="0">
                <a:ea typeface="新細明體" charset="-120"/>
              </a:rPr>
              <a:t>  (Store an </a:t>
            </a:r>
            <a:r>
              <a:rPr lang="en-US" dirty="0" err="1">
                <a:ea typeface="新細明體" charset="-120"/>
              </a:rPr>
              <a:t>arrayList</a:t>
            </a:r>
            <a:r>
              <a:rPr lang="en-US" dirty="0">
                <a:ea typeface="新細明體" charset="-120"/>
              </a:rPr>
              <a:t> of </a:t>
            </a:r>
            <a:r>
              <a:rPr lang="en-US" dirty="0" err="1">
                <a:ea typeface="新細明體" charset="-120"/>
              </a:rPr>
              <a:t>customerBean</a:t>
            </a:r>
            <a:r>
              <a:rPr lang="en-US" dirty="0">
                <a:ea typeface="新細明體" charset="-120"/>
              </a:rPr>
              <a:t>)</a:t>
            </a:r>
          </a:p>
          <a:p>
            <a:pPr lvl="1"/>
            <a:r>
              <a:rPr lang="en-US" dirty="0" err="1">
                <a:ea typeface="新細明體" charset="-120"/>
              </a:rPr>
              <a:t>CustomerBean</a:t>
            </a:r>
            <a:r>
              <a:rPr lang="en-US" dirty="0">
                <a:ea typeface="新細明體" charset="-120"/>
              </a:rPr>
              <a:t>  (Store information a </a:t>
            </a:r>
            <a:r>
              <a:rPr lang="en-US" dirty="0" err="1">
                <a:ea typeface="新細明體" charset="-120"/>
              </a:rPr>
              <a:t>customerBean</a:t>
            </a:r>
            <a:r>
              <a:rPr lang="en-US" dirty="0">
                <a:ea typeface="新細明體" charset="-120"/>
              </a:rPr>
              <a:t>)</a:t>
            </a:r>
            <a:endParaRPr lang="en-US" dirty="0"/>
          </a:p>
          <a:p>
            <a:r>
              <a:rPr lang="en-US" dirty="0"/>
              <a:t>Specify the scope attribute as either </a:t>
            </a:r>
            <a:r>
              <a:rPr lang="en-US" dirty="0">
                <a:solidFill>
                  <a:srgbClr val="FF0000"/>
                </a:solidFill>
                <a:ea typeface="新細明體" charset="-120"/>
              </a:rPr>
              <a:t>application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  <a:ea typeface="新細明體" charset="-120"/>
              </a:rPr>
              <a:t>session </a:t>
            </a:r>
            <a:r>
              <a:rPr lang="en-US" dirty="0">
                <a:ea typeface="新細明體" charset="-120"/>
              </a:rPr>
              <a:t>or</a:t>
            </a:r>
            <a:r>
              <a:rPr lang="en-US" dirty="0">
                <a:solidFill>
                  <a:srgbClr val="FF0000"/>
                </a:solidFill>
                <a:ea typeface="新細明體" charset="-120"/>
              </a:rPr>
              <a:t> request </a:t>
            </a:r>
            <a:r>
              <a:rPr lang="en-US" dirty="0">
                <a:ea typeface="新細明體" charset="-120"/>
              </a:rPr>
              <a:t>in </a:t>
            </a:r>
            <a:r>
              <a:rPr lang="en-US" dirty="0" err="1">
                <a:ea typeface="新細明體" charset="-120"/>
              </a:rPr>
              <a:t>Customer</a:t>
            </a:r>
            <a:r>
              <a:rPr lang="en-US" dirty="0" err="1">
                <a:solidFill>
                  <a:srgbClr val="FF0000"/>
                </a:solidFill>
                <a:ea typeface="新細明體" charset="-120"/>
              </a:rPr>
              <a:t>s</a:t>
            </a:r>
            <a:r>
              <a:rPr lang="en-US" dirty="0" err="1">
                <a:ea typeface="新細明體" charset="-120"/>
              </a:rPr>
              <a:t>Bean</a:t>
            </a:r>
            <a:r>
              <a:rPr lang="en-US" dirty="0">
                <a:ea typeface="新細明體" charset="-120"/>
              </a:rPr>
              <a:t> </a:t>
            </a:r>
            <a:endParaRPr lang="en-US" dirty="0"/>
          </a:p>
          <a:p>
            <a:r>
              <a:rPr lang="en-US" dirty="0"/>
              <a:t>Find out the difference of the scope. </a:t>
            </a:r>
          </a:p>
          <a:p>
            <a:endParaRPr lang="en-US" dirty="0">
              <a:ea typeface="新細明體" charset="-12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25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標楷體" pitchFamily="65" charset="-120"/>
              </a:rPr>
              <a:t>ict.bean.Customer</a:t>
            </a:r>
            <a:r>
              <a:rPr lang="en-US" dirty="0" err="1">
                <a:solidFill>
                  <a:srgbClr val="FF0000"/>
                </a:solidFill>
                <a:ea typeface="標楷體" pitchFamily="65" charset="-120"/>
              </a:rPr>
              <a:t>s</a:t>
            </a:r>
            <a:r>
              <a:rPr lang="en-US" dirty="0" err="1">
                <a:ea typeface="標楷體" pitchFamily="65" charset="-120"/>
              </a:rPr>
              <a:t>Bean</a:t>
            </a:r>
            <a:endParaRPr lang="en-US" dirty="0">
              <a:ea typeface="標楷體" pitchFamily="65" charset="-120"/>
            </a:endParaRP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新細明體" charset="-120"/>
              </a:rPr>
              <a:t>The </a:t>
            </a:r>
            <a:r>
              <a:rPr lang="en-US" dirty="0" err="1">
                <a:ea typeface="新細明體" charset="-120"/>
              </a:rPr>
              <a:t>Customer</a:t>
            </a:r>
            <a:r>
              <a:rPr lang="en-US" dirty="0" err="1">
                <a:solidFill>
                  <a:srgbClr val="FF0000"/>
                </a:solidFill>
                <a:ea typeface="新細明體" charset="-120"/>
              </a:rPr>
              <a:t>s</a:t>
            </a:r>
            <a:r>
              <a:rPr lang="en-US" dirty="0" err="1">
                <a:ea typeface="新細明體" charset="-120"/>
              </a:rPr>
              <a:t>Bean</a:t>
            </a:r>
            <a:r>
              <a:rPr lang="en-US" dirty="0">
                <a:ea typeface="新細明體" charset="-120"/>
              </a:rPr>
              <a:t> has</a:t>
            </a:r>
          </a:p>
          <a:p>
            <a:pPr lvl="1"/>
            <a:r>
              <a:rPr lang="en-US" dirty="0">
                <a:ea typeface="新細明體" charset="-120"/>
              </a:rPr>
              <a:t>a property of an </a:t>
            </a:r>
            <a:r>
              <a:rPr lang="en-US" dirty="0" err="1">
                <a:ea typeface="新細明體" charset="-120"/>
              </a:rPr>
              <a:t>ArrayList</a:t>
            </a:r>
            <a:r>
              <a:rPr lang="en-US" dirty="0">
                <a:ea typeface="新細明體" charset="-120"/>
              </a:rPr>
              <a:t> of </a:t>
            </a:r>
            <a:r>
              <a:rPr lang="en-US" dirty="0" err="1">
                <a:ea typeface="新細明體" charset="-120"/>
              </a:rPr>
              <a:t>CustomerBean</a:t>
            </a:r>
            <a:r>
              <a:rPr lang="en-US" dirty="0">
                <a:ea typeface="新細明體" charset="-120"/>
              </a:rPr>
              <a:t>  </a:t>
            </a:r>
          </a:p>
          <a:p>
            <a:pPr lvl="1"/>
            <a:r>
              <a:rPr lang="en-US" dirty="0">
                <a:ea typeface="新細明體" charset="-120"/>
              </a:rPr>
              <a:t>A setter and getter of the </a:t>
            </a:r>
            <a:r>
              <a:rPr lang="en-US" dirty="0" err="1">
                <a:ea typeface="新細明體" charset="-120"/>
              </a:rPr>
              <a:t>ArrayList</a:t>
            </a:r>
            <a:endParaRPr lang="en-US" dirty="0">
              <a:ea typeface="新細明體" charset="-120"/>
            </a:endParaRPr>
          </a:p>
          <a:p>
            <a:pPr lvl="1"/>
            <a:r>
              <a:rPr lang="en-US" dirty="0">
                <a:ea typeface="新細明體" charset="-120"/>
              </a:rPr>
              <a:t>A </a:t>
            </a:r>
            <a:r>
              <a:rPr lang="en-US" dirty="0" err="1">
                <a:ea typeface="新細明體" charset="-120"/>
              </a:rPr>
              <a:t>addCustomer</a:t>
            </a:r>
            <a:r>
              <a:rPr lang="en-US" dirty="0">
                <a:ea typeface="新細明體" charset="-120"/>
              </a:rPr>
              <a:t> (</a:t>
            </a:r>
            <a:r>
              <a:rPr lang="en-US" dirty="0" err="1">
                <a:ea typeface="新細明體" charset="-120"/>
              </a:rPr>
              <a:t>CustomerBean</a:t>
            </a:r>
            <a:r>
              <a:rPr lang="en-US" dirty="0">
                <a:ea typeface="新細明體" charset="-120"/>
              </a:rPr>
              <a:t> customer) method</a:t>
            </a:r>
          </a:p>
          <a:p>
            <a:pPr lvl="1"/>
            <a:r>
              <a:rPr lang="en-US" dirty="0">
                <a:ea typeface="新細明體" charset="-120"/>
              </a:rPr>
              <a:t>Default constructor, which will initialize the </a:t>
            </a:r>
            <a:r>
              <a:rPr lang="en-US" dirty="0" err="1">
                <a:ea typeface="新細明體" charset="-120"/>
              </a:rPr>
              <a:t>ArrayList</a:t>
            </a:r>
            <a:r>
              <a:rPr lang="en-US" dirty="0">
                <a:ea typeface="新細明體" charset="-120"/>
              </a:rPr>
              <a:t>, customers </a:t>
            </a:r>
          </a:p>
          <a:p>
            <a:endParaRPr lang="en-US" dirty="0">
              <a:ea typeface="新細明體" charset="-120"/>
            </a:endParaRPr>
          </a:p>
          <a:p>
            <a:endParaRPr lang="en-US" dirty="0">
              <a:ea typeface="新細明體" charset="-120"/>
            </a:endParaRPr>
          </a:p>
          <a:p>
            <a:endParaRPr lang="en-US" dirty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49663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ea typeface="標楷體" pitchFamily="65" charset="-120"/>
              </a:rPr>
            </a:br>
            <a:r>
              <a:rPr lang="en-US" dirty="0" err="1">
                <a:ea typeface="標楷體" pitchFamily="65" charset="-120"/>
              </a:rPr>
              <a:t>ict.bean.CustomersBean</a:t>
            </a:r>
            <a:endParaRPr lang="en-US" dirty="0">
              <a:ea typeface="標楷體" pitchFamily="65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772816"/>
            <a:ext cx="78488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package </a:t>
            </a:r>
            <a:r>
              <a:rPr lang="en-US" dirty="0" err="1"/>
              <a:t>ict.bean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java.util.ArrayList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CustomersBean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implements </a:t>
            </a:r>
            <a:r>
              <a:rPr lang="en-US" dirty="0" err="1">
                <a:solidFill>
                  <a:srgbClr val="FF0000"/>
                </a:solidFill>
              </a:rPr>
              <a:t>Serializable</a:t>
            </a:r>
            <a:r>
              <a:rPr lang="en-US" dirty="0"/>
              <a:t>  {</a:t>
            </a:r>
          </a:p>
          <a:p>
            <a:r>
              <a:rPr lang="en-US" dirty="0"/>
              <a:t>    private </a:t>
            </a:r>
            <a:r>
              <a:rPr lang="en-US" dirty="0" err="1"/>
              <a:t>ArrayList</a:t>
            </a:r>
            <a:r>
              <a:rPr lang="en-US" dirty="0"/>
              <a:t>&lt;</a:t>
            </a:r>
            <a:r>
              <a:rPr lang="en-US" altLang="zh-HK" b="1" dirty="0" err="1">
                <a:solidFill>
                  <a:srgbClr val="FF0000"/>
                </a:solidFill>
              </a:rPr>
              <a:t>CustomerBean</a:t>
            </a:r>
            <a:r>
              <a:rPr lang="en-US" dirty="0"/>
              <a:t>&gt; customers;</a:t>
            </a:r>
          </a:p>
          <a:p>
            <a:r>
              <a:rPr lang="en-US" dirty="0">
                <a:solidFill>
                  <a:srgbClr val="FF0000"/>
                </a:solidFill>
              </a:rPr>
              <a:t>  // getter and setter of customers.</a:t>
            </a:r>
          </a:p>
          <a:p>
            <a:r>
              <a:rPr lang="en-US" dirty="0">
                <a:solidFill>
                  <a:srgbClr val="FF0000"/>
                </a:solidFill>
              </a:rPr>
              <a:t>  // default constructor</a:t>
            </a:r>
          </a:p>
          <a:p>
            <a:r>
              <a:rPr lang="en-US" dirty="0"/>
              <a:t>public void </a:t>
            </a:r>
            <a:r>
              <a:rPr lang="en-US" dirty="0" err="1"/>
              <a:t>addCustomer</a:t>
            </a:r>
            <a:r>
              <a:rPr lang="en-US" dirty="0"/>
              <a:t>(</a:t>
            </a:r>
            <a:r>
              <a:rPr lang="en-US" dirty="0" err="1"/>
              <a:t>CustomerBean</a:t>
            </a:r>
            <a:r>
              <a:rPr lang="en-US" dirty="0"/>
              <a:t> customer) {</a:t>
            </a:r>
          </a:p>
          <a:p>
            <a:r>
              <a:rPr lang="en-US" dirty="0"/>
              <a:t>        </a:t>
            </a:r>
            <a:r>
              <a:rPr lang="en-US" dirty="0" err="1"/>
              <a:t>this.customers.add</a:t>
            </a:r>
            <a:r>
              <a:rPr lang="en-US" dirty="0"/>
              <a:t>( customer);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 out differences of </a:t>
            </a:r>
            <a:r>
              <a:rPr lang="en-US" dirty="0">
                <a:solidFill>
                  <a:srgbClr val="FF0000"/>
                </a:solidFill>
              </a:rPr>
              <a:t>application</a:t>
            </a:r>
            <a:r>
              <a:rPr lang="en-US" dirty="0">
                <a:solidFill>
                  <a:srgbClr val="2F2B20"/>
                </a:solidFill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session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dirty="0">
                <a:solidFill>
                  <a:srgbClr val="FF0000"/>
                </a:solidFill>
              </a:rPr>
              <a:t>request</a:t>
            </a:r>
            <a:r>
              <a:rPr lang="en-US" dirty="0"/>
              <a:t>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556792"/>
            <a:ext cx="76200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After you complete the handleCustomer2.jsp</a:t>
            </a:r>
          </a:p>
          <a:p>
            <a:r>
              <a:rPr lang="en-US" dirty="0"/>
              <a:t>Experiment 1</a:t>
            </a:r>
          </a:p>
          <a:p>
            <a:pPr lvl="1"/>
            <a:r>
              <a:rPr lang="en-US" dirty="0"/>
              <a:t>Set the </a:t>
            </a:r>
            <a:r>
              <a:rPr lang="en-US" dirty="0" err="1"/>
              <a:t>Customer</a:t>
            </a:r>
            <a:r>
              <a:rPr lang="en-US" b="1" dirty="0" err="1">
                <a:solidFill>
                  <a:srgbClr val="FF0000"/>
                </a:solidFill>
              </a:rPr>
              <a:t>s</a:t>
            </a:r>
            <a:r>
              <a:rPr lang="en-US" dirty="0" err="1"/>
              <a:t>Bean</a:t>
            </a:r>
            <a:r>
              <a:rPr lang="en-US" dirty="0"/>
              <a:t> to </a:t>
            </a:r>
            <a:r>
              <a:rPr lang="en-US" dirty="0">
                <a:solidFill>
                  <a:srgbClr val="FF0000"/>
                </a:solidFill>
              </a:rPr>
              <a:t>application</a:t>
            </a:r>
            <a:r>
              <a:rPr lang="en-US" dirty="0"/>
              <a:t> scope</a:t>
            </a:r>
          </a:p>
          <a:p>
            <a:pPr lvl="1"/>
            <a:r>
              <a:rPr lang="en-US" dirty="0"/>
              <a:t>Open two different browsers (IE and chrome) </a:t>
            </a:r>
          </a:p>
          <a:p>
            <a:pPr lvl="1"/>
            <a:r>
              <a:rPr lang="en-US" dirty="0"/>
              <a:t>Input a customer information using IE </a:t>
            </a:r>
          </a:p>
          <a:p>
            <a:pPr lvl="1"/>
            <a:r>
              <a:rPr lang="en-US" dirty="0"/>
              <a:t>Input a customer information using chrome</a:t>
            </a:r>
          </a:p>
          <a:p>
            <a:pPr lvl="1"/>
            <a:r>
              <a:rPr lang="en-US" dirty="0"/>
              <a:t>Check whether the customer information which inputted via IE display in chrome? Visa versa</a:t>
            </a:r>
          </a:p>
          <a:p>
            <a:r>
              <a:rPr lang="en-US" dirty="0"/>
              <a:t>Experiment 2</a:t>
            </a:r>
          </a:p>
          <a:p>
            <a:pPr lvl="1"/>
            <a:r>
              <a:rPr lang="en-US" dirty="0"/>
              <a:t>Set the </a:t>
            </a:r>
            <a:r>
              <a:rPr lang="en-US" dirty="0" err="1"/>
              <a:t>Customer</a:t>
            </a:r>
            <a:r>
              <a:rPr lang="en-US" dirty="0" err="1">
                <a:solidFill>
                  <a:srgbClr val="FF0000"/>
                </a:solidFill>
              </a:rPr>
              <a:t>s</a:t>
            </a:r>
            <a:r>
              <a:rPr lang="en-US" dirty="0" err="1"/>
              <a:t>Bean</a:t>
            </a:r>
            <a:r>
              <a:rPr lang="en-US" dirty="0"/>
              <a:t> to </a:t>
            </a:r>
            <a:r>
              <a:rPr lang="en-US" dirty="0">
                <a:solidFill>
                  <a:srgbClr val="FF0000"/>
                </a:solidFill>
              </a:rPr>
              <a:t>session </a:t>
            </a:r>
            <a:r>
              <a:rPr lang="en-US" dirty="0"/>
              <a:t>scope</a:t>
            </a:r>
          </a:p>
          <a:p>
            <a:pPr lvl="1"/>
            <a:r>
              <a:rPr lang="en-US" dirty="0"/>
              <a:t>Open two different browsers (IE and chrome) </a:t>
            </a:r>
          </a:p>
          <a:p>
            <a:pPr lvl="1"/>
            <a:r>
              <a:rPr lang="en-US" dirty="0"/>
              <a:t>Input a customer information using IE </a:t>
            </a:r>
          </a:p>
          <a:p>
            <a:pPr lvl="1"/>
            <a:r>
              <a:rPr lang="en-US" dirty="0"/>
              <a:t>Input a customer information using chrome</a:t>
            </a:r>
          </a:p>
          <a:p>
            <a:pPr lvl="1"/>
            <a:r>
              <a:rPr lang="en-US" dirty="0"/>
              <a:t>Check whether the customer information which inputted via IE display in chrome? Visa versa</a:t>
            </a:r>
          </a:p>
          <a:p>
            <a:pPr marL="41148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074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Experiment 3</a:t>
            </a:r>
          </a:p>
          <a:p>
            <a:pPr lvl="1"/>
            <a:r>
              <a:rPr lang="en-US" dirty="0"/>
              <a:t>Set the </a:t>
            </a:r>
            <a:r>
              <a:rPr lang="en-US" dirty="0" err="1"/>
              <a:t>Customer</a:t>
            </a:r>
            <a:r>
              <a:rPr lang="en-US" b="1" dirty="0" err="1">
                <a:solidFill>
                  <a:srgbClr val="FF0000"/>
                </a:solidFill>
              </a:rPr>
              <a:t>s</a:t>
            </a:r>
            <a:r>
              <a:rPr lang="en-US" dirty="0" err="1"/>
              <a:t>Bean</a:t>
            </a:r>
            <a:r>
              <a:rPr lang="en-US" dirty="0"/>
              <a:t> to </a:t>
            </a:r>
            <a:r>
              <a:rPr lang="en-US" dirty="0">
                <a:solidFill>
                  <a:srgbClr val="FF0000"/>
                </a:solidFill>
              </a:rPr>
              <a:t>request </a:t>
            </a:r>
            <a:r>
              <a:rPr lang="en-US" dirty="0"/>
              <a:t>scope</a:t>
            </a:r>
          </a:p>
          <a:p>
            <a:pPr lvl="1"/>
            <a:r>
              <a:rPr lang="en-US" dirty="0"/>
              <a:t>Open one different browsers  </a:t>
            </a:r>
          </a:p>
          <a:p>
            <a:pPr lvl="1"/>
            <a:r>
              <a:rPr lang="en-US" dirty="0"/>
              <a:t>Input a customer information   (first customer)</a:t>
            </a:r>
          </a:p>
          <a:p>
            <a:pPr lvl="1"/>
            <a:r>
              <a:rPr lang="en-US" dirty="0"/>
              <a:t>Input another customer information  (second customer)</a:t>
            </a:r>
          </a:p>
          <a:p>
            <a:pPr lvl="1"/>
            <a:r>
              <a:rPr lang="en-US" dirty="0"/>
              <a:t>Check whether the first customer information still exist after the second customer submitted to the server.</a:t>
            </a:r>
          </a:p>
        </p:txBody>
      </p:sp>
    </p:spTree>
    <p:extLst>
      <p:ext uri="{BB962C8B-B14F-4D97-AF65-F5344CB8AC3E}">
        <p14:creationId xmlns:p14="http://schemas.microsoft.com/office/powerpoint/2010/main" val="3269010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template with </a:t>
            </a:r>
            <a:r>
              <a:rPr lang="en-US" dirty="0" err="1"/>
              <a:t>jsp</a:t>
            </a:r>
            <a:r>
              <a:rPr lang="en-US" dirty="0"/>
              <a:t>: include</a:t>
            </a:r>
          </a:p>
        </p:txBody>
      </p:sp>
    </p:spTree>
    <p:extLst>
      <p:ext uri="{BB962C8B-B14F-4D97-AF65-F5344CB8AC3E}">
        <p14:creationId xmlns:p14="http://schemas.microsoft.com/office/powerpoint/2010/main" val="2734705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css</a:t>
            </a:r>
            <a:r>
              <a:rPr lang="en-US" dirty="0"/>
              <a:t> template with </a:t>
            </a:r>
            <a:r>
              <a:rPr lang="en-US" dirty="0" err="1"/>
              <a:t>jsp:include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the following jsp files </a:t>
            </a:r>
          </a:p>
          <a:p>
            <a:pPr lvl="1"/>
            <a:r>
              <a:rPr lang="en-US" dirty="0" err="1"/>
              <a:t>heading.jsp</a:t>
            </a:r>
            <a:endParaRPr lang="en-US" dirty="0"/>
          </a:p>
          <a:p>
            <a:pPr lvl="1"/>
            <a:r>
              <a:rPr lang="en-US" dirty="0" err="1"/>
              <a:t>menu.jsp</a:t>
            </a:r>
            <a:endParaRPr lang="en-US" dirty="0"/>
          </a:p>
          <a:p>
            <a:pPr lvl="1"/>
            <a:r>
              <a:rPr lang="en-US" dirty="0" err="1"/>
              <a:t>footer.jsp</a:t>
            </a:r>
            <a:endParaRPr lang="en-US" dirty="0"/>
          </a:p>
          <a:p>
            <a:pPr lvl="1"/>
            <a:r>
              <a:rPr lang="en-US" dirty="0" err="1"/>
              <a:t>main.jsp</a:t>
            </a:r>
            <a:endParaRPr lang="en-US" dirty="0"/>
          </a:p>
          <a:p>
            <a:pPr lvl="1"/>
            <a:r>
              <a:rPr lang="en-US" dirty="0" err="1"/>
              <a:t>template.jsp</a:t>
            </a:r>
            <a:endParaRPr lang="en-US" dirty="0"/>
          </a:p>
          <a:p>
            <a:pPr lvl="1"/>
            <a:r>
              <a:rPr lang="en-US" dirty="0" err="1"/>
              <a:t>profile.jsp</a:t>
            </a:r>
            <a:endParaRPr lang="en-US" dirty="0"/>
          </a:p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5" y="2564781"/>
            <a:ext cx="6867310" cy="3888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49577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menu.jsp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56792"/>
            <a:ext cx="6735638" cy="309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499992" y="4797152"/>
            <a:ext cx="4176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Since this file will be include in another file, no need to add the tag &lt;html&gt;.</a:t>
            </a:r>
          </a:p>
          <a:p>
            <a:r>
              <a:rPr lang="en-US" dirty="0">
                <a:solidFill>
                  <a:srgbClr val="FF0000"/>
                </a:solidFill>
              </a:rPr>
              <a:t>Just need the unordered list is enough</a:t>
            </a:r>
          </a:p>
        </p:txBody>
      </p:sp>
    </p:spTree>
    <p:extLst>
      <p:ext uri="{BB962C8B-B14F-4D97-AF65-F5344CB8AC3E}">
        <p14:creationId xmlns:p14="http://schemas.microsoft.com/office/powerpoint/2010/main" val="15738758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heading.jsp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54" y="1412776"/>
            <a:ext cx="8983446" cy="2005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92297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footer.jsp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7" y="1268760"/>
            <a:ext cx="9192818" cy="2289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52544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main.jsp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34" y="1434033"/>
            <a:ext cx="8192474" cy="2871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30098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template.jsp</a:t>
            </a:r>
            <a:r>
              <a:rPr lang="en-US" dirty="0"/>
              <a:t> 1/2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9512" y="1124744"/>
            <a:ext cx="964907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&lt;%@page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contentType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="text/html"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pageEncoding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="UTF-8"%&gt;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&lt;!DOCTYPE html&gt;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&lt;html&gt; &lt;head&gt;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&lt;title&gt;template&lt;/title&gt;  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&lt;/head&gt;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&lt;body&gt;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&lt;div id="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maincontainer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&lt;div id="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topsection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"&gt;&lt;div class="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innertube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&lt;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jsp:include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page="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heading.jsp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 /&gt;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&lt;/div&gt;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&lt;/div&gt;</a:t>
            </a: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&lt;div id="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contentwrapper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&lt;div id="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contentcolumn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&lt;div class="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innertube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                     &lt;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jsp:include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page="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main.jsp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 /&gt;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&lt;/div&gt;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&lt;/div&gt;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&lt;/div&gt;</a:t>
            </a: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048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template.jsp</a:t>
            </a:r>
            <a:r>
              <a:rPr lang="en-US" dirty="0"/>
              <a:t>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916832"/>
            <a:ext cx="101886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 &lt;div id="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leftcolumn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&lt;div class="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innertube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&lt;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jsp:include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page="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menu.jsp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 /&gt;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&lt;/div&gt;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&lt;/div&gt;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&lt;div id="footer"&gt;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jsp:include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page="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footer.jsp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         /&gt;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&lt;/div&gt;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&lt;/div&gt;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&lt;/body&gt;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8658515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out the </a:t>
            </a:r>
            <a:r>
              <a:rPr lang="en-US" dirty="0" err="1"/>
              <a:t>template.jsp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" y="1484784"/>
            <a:ext cx="8226648" cy="5011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23678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the following line to the </a:t>
            </a:r>
            <a:br>
              <a:rPr lang="en-US" dirty="0"/>
            </a:br>
            <a:r>
              <a:rPr lang="en-US" dirty="0" err="1"/>
              <a:t>template.jsp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298" y="2483238"/>
            <a:ext cx="9433048" cy="1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43608" y="3429000"/>
            <a:ext cx="7128792" cy="28803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622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out the </a:t>
            </a:r>
            <a:r>
              <a:rPr lang="en-US" dirty="0" err="1"/>
              <a:t>template.jsp</a:t>
            </a:r>
            <a:r>
              <a:rPr lang="en-US" dirty="0"/>
              <a:t> again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2536" y="1333691"/>
            <a:ext cx="8520282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12409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 copy the </a:t>
            </a:r>
            <a:r>
              <a:rPr lang="en-US" dirty="0" err="1"/>
              <a:t>template.jsp</a:t>
            </a:r>
            <a:r>
              <a:rPr lang="en-US" dirty="0"/>
              <a:t> </a:t>
            </a:r>
            <a:r>
              <a:rPr lang="en-US"/>
              <a:t>and rename it to </a:t>
            </a:r>
            <a:r>
              <a:rPr lang="en-US" dirty="0" err="1"/>
              <a:t>profile.jsp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</a:t>
            </a:r>
            <a:r>
              <a:rPr lang="en-US" dirty="0" err="1">
                <a:solidFill>
                  <a:srgbClr val="FF0000"/>
                </a:solidFill>
              </a:rPr>
              <a:t>profile.jsp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Replace the  &lt;</a:t>
            </a:r>
            <a:r>
              <a:rPr lang="en-US" dirty="0" err="1"/>
              <a:t>jsp:include</a:t>
            </a:r>
            <a:r>
              <a:rPr lang="en-US" dirty="0"/>
              <a:t> page="</a:t>
            </a:r>
            <a:r>
              <a:rPr lang="en-US" dirty="0" err="1"/>
              <a:t>main.jsp</a:t>
            </a:r>
            <a:r>
              <a:rPr lang="en-US" dirty="0"/>
              <a:t>" /&gt; with </a:t>
            </a:r>
            <a:r>
              <a:rPr lang="en-US"/>
              <a:t>the following </a:t>
            </a:r>
            <a:r>
              <a:rPr lang="en-US" dirty="0"/>
              <a:t>code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852936"/>
            <a:ext cx="6696744" cy="3316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73981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 the title to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3" y="2708920"/>
            <a:ext cx="9080558" cy="1350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97561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to run the </a:t>
            </a:r>
            <a:r>
              <a:rPr lang="en-US" dirty="0" err="1"/>
              <a:t>profile.jsp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628800"/>
            <a:ext cx="8032198" cy="454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19851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</a:t>
            </a:r>
            <a:r>
              <a:rPr lang="en-US" dirty="0" err="1"/>
              <a:t>css</a:t>
            </a:r>
            <a:r>
              <a:rPr lang="en-US" dirty="0"/>
              <a:t> to align the label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the following code after inside head tag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2276872"/>
            <a:ext cx="8604448" cy="4114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 	&lt;style type="text/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css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fieldset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padding: 1em;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font:80%/1 sans-serif;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label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float:left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width:20%;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margin-right:0.5em;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padding-top:0.2em;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text-align:right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font-weight:bold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}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&lt;/style&gt;</a:t>
            </a:r>
          </a:p>
        </p:txBody>
      </p:sp>
    </p:spTree>
    <p:extLst>
      <p:ext uri="{BB962C8B-B14F-4D97-AF65-F5344CB8AC3E}">
        <p14:creationId xmlns:p14="http://schemas.microsoft.com/office/powerpoint/2010/main" val="24365844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to run the </a:t>
            </a:r>
            <a:r>
              <a:rPr lang="en-US" dirty="0" err="1"/>
              <a:t>profile.jsp</a:t>
            </a:r>
            <a:r>
              <a:rPr lang="en-US" dirty="0"/>
              <a:t> again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0768"/>
            <a:ext cx="8985097" cy="4836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95628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452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1322</TotalTime>
  <Words>1633</Words>
  <Application>Microsoft Macintosh PowerPoint</Application>
  <PresentationFormat>On-screen Show (4:3)</PresentationFormat>
  <Paragraphs>250</Paragraphs>
  <Slides>44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Cambria</vt:lpstr>
      <vt:lpstr>Courier New</vt:lpstr>
      <vt:lpstr>Adjacency</vt:lpstr>
      <vt:lpstr>Workshop 4</vt:lpstr>
      <vt:lpstr>Tasks -</vt:lpstr>
      <vt:lpstr>Create  a Web Application Project</vt:lpstr>
      <vt:lpstr>Modify index.jsp  and add the following hyperlinks</vt:lpstr>
      <vt:lpstr>Calculator Task  </vt:lpstr>
      <vt:lpstr>calculateInput.jsp</vt:lpstr>
      <vt:lpstr>ict.bean.CalculateBean.java</vt:lpstr>
      <vt:lpstr>CalculateBean</vt:lpstr>
      <vt:lpstr>Serializable</vt:lpstr>
      <vt:lpstr>ict.util.CalculateHelper.java</vt:lpstr>
      <vt:lpstr>calculate.jsp using jsp Action </vt:lpstr>
      <vt:lpstr>Define Calculate.jsp</vt:lpstr>
      <vt:lpstr>Result displayed by Calculate.jsp  using jsp action</vt:lpstr>
      <vt:lpstr>CustomerBean with jsp Action</vt:lpstr>
      <vt:lpstr>Task 2 - Customer Bean and Jsp Action</vt:lpstr>
      <vt:lpstr>Sample Run – Input the first customer Information</vt:lpstr>
      <vt:lpstr>Add 2nd Customer information</vt:lpstr>
      <vt:lpstr>CustomerBean</vt:lpstr>
      <vt:lpstr>Create a java class ict.beanCustomerBean.java</vt:lpstr>
      <vt:lpstr>Define a editCustomer.jsp as follows  </vt:lpstr>
      <vt:lpstr>handleCustomer.jsp</vt:lpstr>
      <vt:lpstr>Demo Your work</vt:lpstr>
      <vt:lpstr>To define the scope the ArrayList of customer with jsp:useBean action (Enhanced Version)</vt:lpstr>
      <vt:lpstr>ict.bean.CustomersBean</vt:lpstr>
      <vt:lpstr> ict.bean.CustomersBean</vt:lpstr>
      <vt:lpstr>Find out differences of application, session and request scope</vt:lpstr>
      <vt:lpstr>PowerPoint Presentation</vt:lpstr>
      <vt:lpstr>Task 3 </vt:lpstr>
      <vt:lpstr>Use css template with jsp:include</vt:lpstr>
      <vt:lpstr>menu.jsp</vt:lpstr>
      <vt:lpstr>heading.jsp</vt:lpstr>
      <vt:lpstr>footer.jsp</vt:lpstr>
      <vt:lpstr>main.jsp</vt:lpstr>
      <vt:lpstr>template.jsp 1/2</vt:lpstr>
      <vt:lpstr>template.jsp 2/2</vt:lpstr>
      <vt:lpstr>Try out the template.jsp</vt:lpstr>
      <vt:lpstr>Add the following line to the  template.jsp</vt:lpstr>
      <vt:lpstr>Try out the template.jsp again</vt:lpstr>
      <vt:lpstr>Create a  copy the template.jsp and rename it to profile.jsp</vt:lpstr>
      <vt:lpstr>Modify the title to Profile</vt:lpstr>
      <vt:lpstr>Try to run the profile.jsp</vt:lpstr>
      <vt:lpstr>Apply css to align the label</vt:lpstr>
      <vt:lpstr>Try to run the profile.jsp again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lcshum</dc:creator>
  <cp:lastModifiedBy>SHUM LOK CHEUNG</cp:lastModifiedBy>
  <cp:revision>631</cp:revision>
  <dcterms:created xsi:type="dcterms:W3CDTF">2010-03-16T02:01:48Z</dcterms:created>
  <dcterms:modified xsi:type="dcterms:W3CDTF">2022-02-16T08:03:38Z</dcterms:modified>
</cp:coreProperties>
</file>