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notesMasterIdLst>
    <p:notesMasterId r:id="rId34"/>
  </p:notesMasterIdLst>
  <p:sldIdLst>
    <p:sldId id="256" r:id="rId2"/>
    <p:sldId id="304" r:id="rId3"/>
    <p:sldId id="321" r:id="rId4"/>
    <p:sldId id="322" r:id="rId5"/>
    <p:sldId id="327" r:id="rId6"/>
    <p:sldId id="353" r:id="rId7"/>
    <p:sldId id="349" r:id="rId8"/>
    <p:sldId id="323" r:id="rId9"/>
    <p:sldId id="325" r:id="rId10"/>
    <p:sldId id="326" r:id="rId11"/>
    <p:sldId id="328" r:id="rId12"/>
    <p:sldId id="346" r:id="rId13"/>
    <p:sldId id="347" r:id="rId14"/>
    <p:sldId id="329" r:id="rId15"/>
    <p:sldId id="330" r:id="rId16"/>
    <p:sldId id="332" r:id="rId17"/>
    <p:sldId id="333" r:id="rId18"/>
    <p:sldId id="334" r:id="rId19"/>
    <p:sldId id="336" r:id="rId20"/>
    <p:sldId id="335" r:id="rId21"/>
    <p:sldId id="338" r:id="rId22"/>
    <p:sldId id="339" r:id="rId23"/>
    <p:sldId id="350" r:id="rId24"/>
    <p:sldId id="331" r:id="rId25"/>
    <p:sldId id="352" r:id="rId26"/>
    <p:sldId id="340" r:id="rId27"/>
    <p:sldId id="341" r:id="rId28"/>
    <p:sldId id="342" r:id="rId29"/>
    <p:sldId id="343" r:id="rId30"/>
    <p:sldId id="344" r:id="rId31"/>
    <p:sldId id="351" r:id="rId32"/>
    <p:sldId id="34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72041"/>
  </p:normalViewPr>
  <p:slideViewPr>
    <p:cSldViewPr snapToGrid="0">
      <p:cViewPr varScale="1">
        <p:scale>
          <a:sx n="79" d="100"/>
          <a:sy n="79" d="100"/>
        </p:scale>
        <p:origin x="17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BA5F4-B2BA-8346-B777-8FEC6BFADB3C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691D2-D8B4-9044-8360-FED2F158F8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48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613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3957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877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A02F6-97A7-975F-A23F-672DD2101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87EB0C-AF7E-13AD-A896-FEBD35316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75DEC-FE34-AAFB-1DF4-DCAC7D8F2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3B49C-DB6B-30BC-D2F1-42B2D52EB6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118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4E1CF-532D-3A25-B10C-9AE928C7C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4D5D0-E1C3-837F-5F09-C5F68624F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F4316-D4A3-5B85-FB95-D4EF0857C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C4904-E330-22C8-9863-26DA644D23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025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3F7D4-8263-9DD1-58CA-DA4E05841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38E22-41C8-2728-CF3A-705789133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E96FB-F2FA-4BE1-FEF3-75553DA75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1BAFA-87EB-737A-20F3-B8B1DE220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7441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14D79-FDB7-31E5-7949-507C8155A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F04E5-4DBB-A1B5-BACE-1196F987A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BC5F1-B223-CFB5-6A5A-46F84469C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CBD17-A582-D0F1-8FAF-F134FAC21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876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52D5D-2BEC-8EEC-55FF-CBD285E7B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B5DF7-6CFB-D782-F3E8-82829E54C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0740D-2444-E178-E06A-D3FC320AE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274F33-4AA0-5466-B5EA-047E33DCF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649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09C91-D186-6887-1A32-CFA9311E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63711-28D6-7D52-FAFA-E04C4D1DB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8467D-24F1-C03A-D9AD-287FD6F40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51285-954A-F949-2C82-EA3A012E5D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60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AE47-F22E-8AE8-BE62-9D0429FD2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F8D928-73CA-4E6B-C3F2-4460ACC10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926C4-E519-B1F3-9644-662A956CEE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F2233-E1AD-5A54-892E-FB3241C1D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988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7548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8691D2-D8B4-9044-8360-FED2F158F86F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470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70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26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596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950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201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144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049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43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621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5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38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4272C-7C25-E946-91DC-9DF952FE5F58}" type="datetimeFigureOut">
              <a:rPr lang="en-GB" smtClean="0"/>
              <a:t>15/04/2026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C45B44-C85C-9841-B6D5-7570A7305C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97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employees/1" TargetMode="External"/><Relationship Id="rId2" Type="http://schemas.openxmlformats.org/officeDocument/2006/relationships/hyperlink" Target="http://localhost:8080/api/employee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alice@example.com" TargetMode="External"/><Relationship Id="rId2" Type="http://schemas.openxmlformats.org/officeDocument/2006/relationships/hyperlink" Target="http://localhost:8080/api/employee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peter@example.com" TargetMode="External"/><Relationship Id="rId4" Type="http://schemas.openxmlformats.org/officeDocument/2006/relationships/hyperlink" Target="http://localhost:8080/api/employees/1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E8C7-8772-0823-B27B-F797993109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HK" dirty="0"/>
              <a:t>Building a RESTful Employee Management API with Spring Boot</a:t>
            </a:r>
            <a:endParaRPr lang="en-HK" dirty="0"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C44AD-D466-757A-78A0-E560CF87A9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HK" dirty="0"/>
              <a:t>Hands-on Workshop – From Zero to a Working CRUD API</a:t>
            </a:r>
            <a:endParaRPr lang="en-HK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93687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B06C8-C90C-F48A-6C33-40E8C5C70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Learning Objectives</a:t>
            </a:r>
            <a:br>
              <a:rPr lang="en-HK" dirty="0"/>
            </a:br>
            <a:endParaRPr lang="en-GB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C98A28-1A52-3422-F78B-0618F9A507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12836"/>
            <a:ext cx="9974704" cy="239860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HK" dirty="0"/>
              <a:t>By the end of this workshop,</a:t>
            </a:r>
          </a:p>
          <a:p>
            <a:pPr lvl="1"/>
            <a:r>
              <a:rPr lang="en-US" altLang="en-US" dirty="0"/>
              <a:t>Develop a complete Spring Boot REST API implementing a layered architecture. </a:t>
            </a:r>
          </a:p>
          <a:p>
            <a:pPr lvl="1"/>
            <a:r>
              <a:rPr lang="en-US" altLang="en-US" dirty="0"/>
              <a:t>Apply essential Spring MVC and Spring Data JPA annotations. </a:t>
            </a:r>
          </a:p>
          <a:p>
            <a:pPr lvl="1"/>
            <a:r>
              <a:rPr lang="en-US" altLang="en-US" dirty="0"/>
              <a:t>Understand the </a:t>
            </a:r>
            <a:r>
              <a:rPr lang="en-US" altLang="en-US" dirty="0" err="1"/>
              <a:t>DispatcherServlet</a:t>
            </a:r>
            <a:r>
              <a:rPr lang="en-US" altLang="en-US" dirty="0"/>
              <a:t> as the Front Controller in Spring Boot. </a:t>
            </a:r>
          </a:p>
          <a:p>
            <a:pPr lvl="1"/>
            <a:r>
              <a:rPr lang="en-US" altLang="en-US" dirty="0"/>
              <a:t>Test the API effectively using Postman or </a:t>
            </a:r>
            <a:r>
              <a:rPr lang="en-US" altLang="en-US" dirty="0" err="1"/>
              <a:t>cURL</a:t>
            </a:r>
            <a:r>
              <a:rPr lang="en-US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3547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207F7-AEC2-BCBE-0294-685F1932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b="1" dirty="0"/>
              <a:t>Prerequisites</a:t>
            </a:r>
            <a:br>
              <a:rPr lang="en-HK" dirty="0"/>
            </a:br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FB0A1BE-2886-8D99-2C8B-048BB84E2E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055" y="1508326"/>
            <a:ext cx="1083788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 17 or higher installed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NetBeans IDE with Spring Boot support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 (optional) or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cURL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(built-in on most systems)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Internet access for Spring </a:t>
            </a:r>
            <a:r>
              <a:rPr kumimoji="0" lang="en-US" altLang="en-U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Initializr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56433E-EEF2-D790-8A83-B1C749FF02E7}"/>
              </a:ext>
            </a:extLst>
          </p:cNvPr>
          <p:cNvSpPr txBox="1"/>
          <p:nvPr/>
        </p:nvSpPr>
        <p:spPr>
          <a:xfrm>
            <a:off x="2773180" y="5861154"/>
            <a:ext cx="7169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 err="1"/>
              <a:t>cURL</a:t>
            </a:r>
            <a:r>
              <a:rPr lang="en-HK" dirty="0"/>
              <a:t> is now presented as a lightweight, scriptable alternative to Postman.)</a:t>
            </a:r>
          </a:p>
        </p:txBody>
      </p:sp>
    </p:spTree>
    <p:extLst>
      <p:ext uri="{BB962C8B-B14F-4D97-AF65-F5344CB8AC3E}">
        <p14:creationId xmlns:p14="http://schemas.microsoft.com/office/powerpoint/2010/main" val="181740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471C-0383-3E5C-88EC-CE6374AEF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Project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2B548-ABDE-4186-E356-317E322CA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126636" cy="4351338"/>
          </a:xfrm>
        </p:spPr>
        <p:txBody>
          <a:bodyPr>
            <a:normAutofit fontScale="92500" lnSpcReduction="10000"/>
          </a:bodyPr>
          <a:lstStyle/>
          <a:p>
            <a:r>
              <a:rPr lang="en-HK" dirty="0"/>
              <a:t>Simple Employee REST API at </a:t>
            </a:r>
            <a:r>
              <a:rPr lang="en-HK" b="1" dirty="0"/>
              <a:t>/</a:t>
            </a:r>
            <a:r>
              <a:rPr lang="en-HK" b="1" dirty="0" err="1"/>
              <a:t>api</a:t>
            </a:r>
            <a:r>
              <a:rPr lang="en-HK" b="1" dirty="0"/>
              <a:t>/employees</a:t>
            </a:r>
            <a:r>
              <a:rPr lang="en-HK" dirty="0"/>
              <a:t> </a:t>
            </a:r>
          </a:p>
          <a:p>
            <a:r>
              <a:rPr lang="en-HK" dirty="0"/>
              <a:t>Full CRUD (Create, Read, Update, Delete) support</a:t>
            </a:r>
          </a:p>
          <a:p>
            <a:r>
              <a:rPr lang="en-HK" b="1" dirty="0"/>
              <a:t>Model</a:t>
            </a:r>
            <a:r>
              <a:rPr lang="en-HK" dirty="0"/>
              <a:t> = Employee entity (JPA-mapped)</a:t>
            </a:r>
          </a:p>
          <a:p>
            <a:r>
              <a:rPr lang="en-HK" b="1" dirty="0"/>
              <a:t>Controller</a:t>
            </a:r>
            <a:r>
              <a:rPr lang="en-HK" dirty="0"/>
              <a:t> = REST endpoints returning JSON,  JSON responses (no HTML needed)</a:t>
            </a:r>
          </a:p>
          <a:p>
            <a:r>
              <a:rPr lang="en-HK" b="1" dirty="0"/>
              <a:t>Database</a:t>
            </a:r>
            <a:r>
              <a:rPr lang="en-HK" dirty="0"/>
              <a:t>: In-memory H2 (for rapid development)</a:t>
            </a:r>
          </a:p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EF5E5BB-BB80-BA5D-AFE6-376E7E653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661" y="0"/>
            <a:ext cx="4603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5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C56C-D015-771B-8013-C5A2F5BD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Spring boot?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7653E-F5E6-AB8D-9330-EAC7C3722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Automatic configuration eliminates manual XML and boilerplate code.</a:t>
            </a:r>
          </a:p>
          <a:p>
            <a:r>
              <a:rPr lang="en-HK" dirty="0"/>
              <a:t>@</a:t>
            </a:r>
            <a:r>
              <a:rPr lang="en-HK" dirty="0" err="1"/>
              <a:t>SpringBootApplication</a:t>
            </a:r>
            <a:r>
              <a:rPr lang="en-HK" dirty="0"/>
              <a:t> enables component scanning and auto-configures the </a:t>
            </a:r>
            <a:r>
              <a:rPr lang="en-HK" dirty="0" err="1"/>
              <a:t>DispatcherServlet</a:t>
            </a:r>
            <a:r>
              <a:rPr lang="en-HK" dirty="0"/>
              <a:t>.</a:t>
            </a:r>
          </a:p>
          <a:p>
            <a:r>
              <a:rPr lang="en-HK" dirty="0"/>
              <a:t>Rapid development with production-ready defaults.</a:t>
            </a:r>
          </a:p>
        </p:txBody>
      </p:sp>
    </p:spTree>
    <p:extLst>
      <p:ext uri="{BB962C8B-B14F-4D97-AF65-F5344CB8AC3E}">
        <p14:creationId xmlns:p14="http://schemas.microsoft.com/office/powerpoint/2010/main" val="4121939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3942-BA2B-4169-7210-ED9A1E07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73E8D-44DE-3DCF-0678-B7C4E0F4F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Step 1 </a:t>
            </a:r>
            <a:r>
              <a:rPr lang="en-HK" dirty="0"/>
              <a:t>Create Spring boot Project</a:t>
            </a:r>
          </a:p>
          <a:p>
            <a:r>
              <a:rPr lang="en-GB" dirty="0"/>
              <a:t>Step 2 </a:t>
            </a:r>
            <a:r>
              <a:rPr lang="en-HK" dirty="0"/>
              <a:t> Model Layer (Employee Entity)</a:t>
            </a:r>
          </a:p>
          <a:p>
            <a:r>
              <a:rPr lang="en-HK" dirty="0"/>
              <a:t>Step 3: Persistence Layer – Repository</a:t>
            </a:r>
          </a:p>
          <a:p>
            <a:r>
              <a:rPr lang="en-HK" dirty="0"/>
              <a:t>Step 4: Create the Business Layer</a:t>
            </a:r>
          </a:p>
          <a:p>
            <a:r>
              <a:rPr lang="en-HK" dirty="0"/>
              <a:t>Step 5: Create the Presentation Layer – REST Controller</a:t>
            </a:r>
          </a:p>
          <a:p>
            <a:r>
              <a:rPr lang="en-HK" dirty="0"/>
              <a:t>Step 6 Employee Data Initializer Class to create sample data</a:t>
            </a:r>
          </a:p>
          <a:p>
            <a:r>
              <a:rPr lang="en-HK" dirty="0"/>
              <a:t>Test with Postman</a:t>
            </a:r>
          </a:p>
          <a:p>
            <a:r>
              <a:rPr lang="en-HK" dirty="0"/>
              <a:t>Or command </a:t>
            </a:r>
            <a:r>
              <a:rPr lang="en-HK"/>
              <a:t>line </a:t>
            </a:r>
            <a:r>
              <a:rPr lang="en-HK" sz="2800"/>
              <a:t>curl</a:t>
            </a:r>
            <a:r>
              <a:rPr lang="en-HK"/>
              <a:t> </a:t>
            </a:r>
            <a:endParaRPr lang="en-US" dirty="0"/>
          </a:p>
        </p:txBody>
      </p:sp>
      <p:pic>
        <p:nvPicPr>
          <p:cNvPr id="2050" name="Picture 2" descr="Postman | Postman API Network">
            <a:extLst>
              <a:ext uri="{FF2B5EF4-FFF2-40B4-BE49-F238E27FC236}">
                <a16:creationId xmlns:a16="http://schemas.microsoft.com/office/drawing/2014/main" id="{DA7221AA-EE8A-8DFA-0C28-CB3ECA3BD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4487" y="4954143"/>
            <a:ext cx="435865" cy="435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835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83206-D3BB-8E28-E8E4-53306433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Step 1 </a:t>
            </a:r>
            <a:r>
              <a:rPr lang="en-HK" dirty="0"/>
              <a:t>Create Spring boot Project</a:t>
            </a:r>
            <a:endParaRPr lang="en-GB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8915E43-DD02-34DC-5C0D-B36A8C295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Generate the Project with Spring </a:t>
            </a:r>
            <a:r>
              <a:rPr lang="en-HK" dirty="0" err="1"/>
              <a:t>Initializr</a:t>
            </a:r>
            <a:endParaRPr lang="en-HK" dirty="0"/>
          </a:p>
          <a:p>
            <a:r>
              <a:rPr lang="en-HK" dirty="0"/>
              <a:t>Import the resulting ZIP file into NetBeans.</a:t>
            </a:r>
            <a:endParaRPr lang="en-HK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B493E-414E-C0FC-851F-13C1E1269D13}"/>
              </a:ext>
            </a:extLst>
          </p:cNvPr>
          <p:cNvSpPr txBox="1"/>
          <p:nvPr/>
        </p:nvSpPr>
        <p:spPr>
          <a:xfrm>
            <a:off x="1573967" y="5246557"/>
            <a:ext cx="6280822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HK" dirty="0"/>
              <a:t>Proceed to the detailed generation instructions on the next slide.</a:t>
            </a:r>
          </a:p>
        </p:txBody>
      </p:sp>
    </p:spTree>
    <p:extLst>
      <p:ext uri="{BB962C8B-B14F-4D97-AF65-F5344CB8AC3E}">
        <p14:creationId xmlns:p14="http://schemas.microsoft.com/office/powerpoint/2010/main" val="28417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08C9-7BEE-1E9F-9CE0-3EBB80133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564" y="270916"/>
            <a:ext cx="4234187" cy="1088921"/>
          </a:xfrm>
        </p:spPr>
        <p:txBody>
          <a:bodyPr>
            <a:normAutofit fontScale="90000"/>
          </a:bodyPr>
          <a:lstStyle/>
          <a:p>
            <a:r>
              <a:rPr lang="en-HK" dirty="0"/>
              <a:t>Generate the Project with Spring </a:t>
            </a:r>
            <a:r>
              <a:rPr lang="en-HK" dirty="0" err="1"/>
              <a:t>Initializr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4AF0C-37F1-CFB3-F271-9CA9C1444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564" y="1945546"/>
            <a:ext cx="5812436" cy="4351338"/>
          </a:xfrm>
        </p:spPr>
        <p:txBody>
          <a:bodyPr>
            <a:normAutofit fontScale="70000" lnSpcReduction="20000"/>
          </a:bodyPr>
          <a:lstStyle/>
          <a:p>
            <a:r>
              <a:rPr lang="en-HK" dirty="0"/>
              <a:t>go to </a:t>
            </a:r>
            <a:r>
              <a:rPr lang="en-HK" b="1" dirty="0">
                <a:hlinkClick r:id="rId2"/>
              </a:rPr>
              <a:t>https://start.spring.io</a:t>
            </a:r>
            <a:r>
              <a:rPr lang="en-HK" dirty="0"/>
              <a:t>. </a:t>
            </a:r>
          </a:p>
          <a:p>
            <a:r>
              <a:rPr lang="en-HK" dirty="0"/>
              <a:t>Fill in the form exactly as follows: </a:t>
            </a:r>
            <a:r>
              <a:rPr lang="en-HK" b="1" dirty="0"/>
              <a:t>Project</a:t>
            </a:r>
            <a:r>
              <a:rPr lang="en-HK" dirty="0"/>
              <a:t>: Maven</a:t>
            </a:r>
          </a:p>
          <a:p>
            <a:r>
              <a:rPr lang="en-HK" b="1" dirty="0"/>
              <a:t>Language</a:t>
            </a:r>
            <a:r>
              <a:rPr lang="en-HK" dirty="0"/>
              <a:t>: Java</a:t>
            </a:r>
          </a:p>
          <a:p>
            <a:r>
              <a:rPr lang="en-HK" b="1" dirty="0"/>
              <a:t>Spring Boot</a:t>
            </a:r>
            <a:r>
              <a:rPr lang="en-HK" dirty="0"/>
              <a:t>: 3.5.x (latest stable)</a:t>
            </a:r>
          </a:p>
          <a:p>
            <a:r>
              <a:rPr lang="en-HK" b="1" dirty="0"/>
              <a:t>Group</a:t>
            </a:r>
            <a:r>
              <a:rPr lang="en-HK" dirty="0"/>
              <a:t>: hk.edu.hkiit.itp4511</a:t>
            </a:r>
          </a:p>
          <a:p>
            <a:r>
              <a:rPr lang="en-HK" b="1" dirty="0"/>
              <a:t>Artifact</a:t>
            </a:r>
            <a:r>
              <a:rPr lang="en-HK" dirty="0"/>
              <a:t>: employee-</a:t>
            </a:r>
            <a:r>
              <a:rPr lang="en-HK" dirty="0" err="1"/>
              <a:t>api</a:t>
            </a:r>
            <a:endParaRPr lang="en-HK" dirty="0"/>
          </a:p>
          <a:p>
            <a:r>
              <a:rPr lang="en-HK" b="1" dirty="0"/>
              <a:t>Name</a:t>
            </a:r>
            <a:r>
              <a:rPr lang="en-HK" dirty="0"/>
              <a:t>: employee-</a:t>
            </a:r>
            <a:r>
              <a:rPr lang="en-HK" dirty="0" err="1"/>
              <a:t>api</a:t>
            </a:r>
            <a:endParaRPr lang="en-HK" dirty="0"/>
          </a:p>
          <a:p>
            <a:r>
              <a:rPr lang="en-HK" b="1" dirty="0"/>
              <a:t>Description</a:t>
            </a:r>
            <a:r>
              <a:rPr lang="en-HK" dirty="0"/>
              <a:t>: Employee REST API with Spring MVC</a:t>
            </a:r>
          </a:p>
          <a:p>
            <a:r>
              <a:rPr lang="en-HK" b="1" dirty="0"/>
              <a:t>Package name</a:t>
            </a:r>
            <a:r>
              <a:rPr lang="en-HK" dirty="0"/>
              <a:t>: hk.edu.hkiit.itp4511.employee-api </a:t>
            </a:r>
          </a:p>
          <a:p>
            <a:r>
              <a:rPr lang="en-HK" b="1" dirty="0"/>
              <a:t>Packaging</a:t>
            </a:r>
            <a:r>
              <a:rPr lang="en-HK" dirty="0"/>
              <a:t>: JAR</a:t>
            </a:r>
          </a:p>
          <a:p>
            <a:r>
              <a:rPr lang="en-HK" b="1" dirty="0"/>
              <a:t>Java</a:t>
            </a:r>
            <a:r>
              <a:rPr lang="en-HK" dirty="0"/>
              <a:t>: 17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FB2043-BB3E-EEE0-43D5-5222E74B0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74556"/>
            <a:ext cx="6127704" cy="5622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8B7CA1-F60A-9E61-44A2-A055A07DE866}"/>
              </a:ext>
            </a:extLst>
          </p:cNvPr>
          <p:cNvSpPr txBox="1"/>
          <p:nvPr/>
        </p:nvSpPr>
        <p:spPr>
          <a:xfrm>
            <a:off x="0" y="5986919"/>
            <a:ext cx="12067082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HK" dirty="0"/>
              <a:t>https://</a:t>
            </a:r>
            <a:r>
              <a:rPr lang="en-HK" dirty="0" err="1"/>
              <a:t>start.spring.io</a:t>
            </a:r>
            <a:r>
              <a:rPr lang="en-HK" dirty="0"/>
              <a:t>/#!type=</a:t>
            </a:r>
            <a:r>
              <a:rPr lang="en-HK" dirty="0" err="1"/>
              <a:t>maven-project&amp;language</a:t>
            </a:r>
            <a:r>
              <a:rPr lang="en-HK" dirty="0"/>
              <a:t>=</a:t>
            </a:r>
            <a:r>
              <a:rPr lang="en-HK" dirty="0" err="1"/>
              <a:t>java&amp;platformVersion</a:t>
            </a:r>
            <a:r>
              <a:rPr lang="en-HK" dirty="0"/>
              <a:t>=3.5.12&amp;packaging=</a:t>
            </a:r>
            <a:r>
              <a:rPr lang="en-HK" dirty="0" err="1"/>
              <a:t>jar&amp;configurationFileFormat</a:t>
            </a:r>
            <a:r>
              <a:rPr lang="en-HK" dirty="0"/>
              <a:t>=</a:t>
            </a:r>
            <a:r>
              <a:rPr lang="en-HK" dirty="0" err="1"/>
              <a:t>properties&amp;jvmVersion</a:t>
            </a:r>
            <a:r>
              <a:rPr lang="en-HK" dirty="0"/>
              <a:t>=17&amp;groupId=hk.edu.hkiit.itp4511&amp;artifactId=</a:t>
            </a:r>
            <a:r>
              <a:rPr lang="en-HK" dirty="0" err="1"/>
              <a:t>employee-api&amp;packageName</a:t>
            </a:r>
            <a:r>
              <a:rPr lang="en-HK" dirty="0"/>
              <a:t>=hk.edu.hkiit.itp4511.employee-api&amp;dependencies=web,data-jpa,h2</a:t>
            </a:r>
          </a:p>
        </p:txBody>
      </p:sp>
    </p:spTree>
    <p:extLst>
      <p:ext uri="{BB962C8B-B14F-4D97-AF65-F5344CB8AC3E}">
        <p14:creationId xmlns:p14="http://schemas.microsoft.com/office/powerpoint/2010/main" val="3538415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65986D6-D06D-6189-F2D4-C5360464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HK" sz="5400" dirty="0"/>
              <a:t>Add dependencies (search and select)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1FFA12-B99D-F3AA-E6CF-46C2A2E85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7999" y="1866582"/>
            <a:ext cx="6143065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D4FA4B-ABEE-A84D-3CEE-85EA70AC7F73}"/>
              </a:ext>
            </a:extLst>
          </p:cNvPr>
          <p:cNvSpPr txBox="1"/>
          <p:nvPr/>
        </p:nvSpPr>
        <p:spPr>
          <a:xfrm>
            <a:off x="630935" y="2488367"/>
            <a:ext cx="4435739" cy="37295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Add the following dependencies (search and select):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Spring Web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Spring Data JPA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/>
              <a:t>H2 Database (in-memory database for quick testing)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7599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91CB4-AF9E-4B23-B25C-FE13A9704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6205928"/>
            <a:ext cx="10515600" cy="39076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lang="en-HK" dirty="0"/>
              <a:t>Click </a:t>
            </a:r>
            <a:r>
              <a:rPr lang="en-HK" b="1" dirty="0"/>
              <a:t>Generate</a:t>
            </a:r>
            <a:r>
              <a:rPr lang="en-HK" dirty="0"/>
              <a:t> → download and unzip the project. Open the project in your IDE.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FB7B1E-2ABA-87E6-3F4D-75C7818F1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720" y="261312"/>
            <a:ext cx="9546757" cy="58463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6ED2D7-A78B-DD60-6F36-3979ED840176}"/>
              </a:ext>
            </a:extLst>
          </p:cNvPr>
          <p:cNvSpPr txBox="1"/>
          <p:nvPr/>
        </p:nvSpPr>
        <p:spPr>
          <a:xfrm>
            <a:off x="838199" y="6596688"/>
            <a:ext cx="531571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employee-</a:t>
            </a:r>
            <a:r>
              <a:rPr lang="en-US" dirty="0" err="1"/>
              <a:t>api.Zip</a:t>
            </a:r>
            <a:r>
              <a:rPr lang="en-US" dirty="0"/>
              <a:t> is created</a:t>
            </a:r>
          </a:p>
        </p:txBody>
      </p:sp>
    </p:spTree>
    <p:extLst>
      <p:ext uri="{BB962C8B-B14F-4D97-AF65-F5344CB8AC3E}">
        <p14:creationId xmlns:p14="http://schemas.microsoft.com/office/powerpoint/2010/main" val="541594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5DDB71-53F2-EBD5-ABE5-352BF1BD7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247" y="146304"/>
            <a:ext cx="7617234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67F1DA-08E3-258B-58D8-C1FD236BC659}"/>
              </a:ext>
            </a:extLst>
          </p:cNvPr>
          <p:cNvSpPr txBox="1"/>
          <p:nvPr/>
        </p:nvSpPr>
        <p:spPr>
          <a:xfrm>
            <a:off x="8436864" y="1207008"/>
            <a:ext cx="33899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File</a:t>
            </a:r>
          </a:p>
          <a:p>
            <a:r>
              <a:rPr lang="en-US" dirty="0"/>
              <a:t>2. Import Project</a:t>
            </a:r>
          </a:p>
          <a:p>
            <a:r>
              <a:rPr lang="en-US" dirty="0"/>
              <a:t>3. Select the “employee-</a:t>
            </a:r>
            <a:r>
              <a:rPr lang="en-US" dirty="0" err="1"/>
              <a:t>api.Zip</a:t>
            </a:r>
            <a:r>
              <a:rPr lang="en-US" altLang="zh-TW" dirty="0"/>
              <a:t>”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A2C02-A40E-ADE1-109F-DAAB6F06650A}"/>
              </a:ext>
            </a:extLst>
          </p:cNvPr>
          <p:cNvSpPr txBox="1"/>
          <p:nvPr/>
        </p:nvSpPr>
        <p:spPr>
          <a:xfrm>
            <a:off x="8436864" y="329845"/>
            <a:ext cx="356463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Create a new project by importing </a:t>
            </a:r>
          </a:p>
          <a:p>
            <a:r>
              <a:rPr lang="en-US" dirty="0"/>
              <a:t>employee-</a:t>
            </a:r>
            <a:r>
              <a:rPr lang="en-US" dirty="0" err="1"/>
              <a:t>api.Zip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6460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A30FD1-745A-D272-B5BF-7612C8DDC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1256604"/>
            <a:ext cx="5401429" cy="4515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F848F2-F759-046E-CBA5-69E94A431CCD}"/>
              </a:ext>
            </a:extLst>
          </p:cNvPr>
          <p:cNvSpPr txBox="1"/>
          <p:nvPr/>
        </p:nvSpPr>
        <p:spPr>
          <a:xfrm>
            <a:off x="7415430" y="1426464"/>
            <a:ext cx="405809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When you see, unloadable</a:t>
            </a:r>
          </a:p>
          <a:p>
            <a:endParaRPr lang="en-US" sz="2800" dirty="0"/>
          </a:p>
          <a:p>
            <a:r>
              <a:rPr lang="en-US" sz="2800" dirty="0"/>
              <a:t>Right click the project </a:t>
            </a:r>
          </a:p>
          <a:p>
            <a:r>
              <a:rPr lang="en-US" sz="2800" dirty="0"/>
              <a:t>and select clean and build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57504-F0B1-5D89-AC55-F33A6585A802}"/>
              </a:ext>
            </a:extLst>
          </p:cNvPr>
          <p:cNvSpPr txBox="1"/>
          <p:nvPr/>
        </p:nvSpPr>
        <p:spPr>
          <a:xfrm>
            <a:off x="8436864" y="329845"/>
            <a:ext cx="303666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Build the project after import</a:t>
            </a:r>
          </a:p>
        </p:txBody>
      </p:sp>
    </p:spTree>
    <p:extLst>
      <p:ext uri="{BB962C8B-B14F-4D97-AF65-F5344CB8AC3E}">
        <p14:creationId xmlns:p14="http://schemas.microsoft.com/office/powerpoint/2010/main" val="2557139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161DD-A8C2-1174-5D16-651F2CFAEEB8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You can update the name of the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FF38D7-4100-32CD-774D-384681F3F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1" y="1287583"/>
            <a:ext cx="4124901" cy="28197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E77840-DDF6-D786-4FCC-F3B261130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159" y="2116638"/>
            <a:ext cx="7833841" cy="56075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978657-A4BC-B003-1917-CA9CFCB069B4}"/>
              </a:ext>
            </a:extLst>
          </p:cNvPr>
          <p:cNvSpPr txBox="1"/>
          <p:nvPr/>
        </p:nvSpPr>
        <p:spPr>
          <a:xfrm>
            <a:off x="7911770" y="4262301"/>
            <a:ext cx="379206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Update the Name to “employee-</a:t>
            </a:r>
            <a:r>
              <a:rPr lang="en-US" dirty="0" err="1"/>
              <a:t>api</a:t>
            </a:r>
            <a:r>
              <a:rPr lang="en-US" dirty="0"/>
              <a:t>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E9BC8B-CB52-AD4B-64C8-EDB1A03EEABD}"/>
              </a:ext>
            </a:extLst>
          </p:cNvPr>
          <p:cNvSpPr txBox="1"/>
          <p:nvPr/>
        </p:nvSpPr>
        <p:spPr>
          <a:xfrm>
            <a:off x="0" y="4663310"/>
            <a:ext cx="42318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click the project </a:t>
            </a:r>
          </a:p>
          <a:p>
            <a:r>
              <a:rPr lang="en-US" dirty="0"/>
              <a:t>and select </a:t>
            </a:r>
            <a:r>
              <a:rPr lang="en-US" b="1" dirty="0"/>
              <a:t>properties</a:t>
            </a:r>
          </a:p>
          <a:p>
            <a:endParaRPr lang="en-US" b="1" dirty="0"/>
          </a:p>
          <a:p>
            <a:r>
              <a:rPr lang="en-US" dirty="0"/>
              <a:t>In </a:t>
            </a:r>
            <a:r>
              <a:rPr lang="en-US" b="1" dirty="0" err="1"/>
              <a:t>Gearnal</a:t>
            </a:r>
            <a:r>
              <a:rPr lang="en-US" b="1" dirty="0"/>
              <a:t>, update the name of project </a:t>
            </a:r>
            <a:br>
              <a:rPr lang="en-US" b="1" dirty="0"/>
            </a:br>
            <a:r>
              <a:rPr lang="en-US" altLang="zh-TW" b="1" dirty="0"/>
              <a:t>“employee-</a:t>
            </a:r>
            <a:r>
              <a:rPr lang="en-US" altLang="zh-TW" b="1" dirty="0" err="1"/>
              <a:t>api</a:t>
            </a:r>
            <a:r>
              <a:rPr lang="en-US" altLang="zh-TW" b="1" dirty="0"/>
              <a:t>”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A32987-CBF6-77C4-9B26-8F1F488A999F}"/>
              </a:ext>
            </a:extLst>
          </p:cNvPr>
          <p:cNvSpPr/>
          <p:nvPr/>
        </p:nvSpPr>
        <p:spPr>
          <a:xfrm>
            <a:off x="7655252" y="3792583"/>
            <a:ext cx="3439468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392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74B1-A1FF-5571-BD21-5D86EFBF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Employee-</a:t>
            </a:r>
            <a:r>
              <a:rPr lang="en-GB" dirty="0" err="1"/>
              <a:t>api</a:t>
            </a:r>
            <a:r>
              <a:rPr lang="en-GB" dirty="0"/>
              <a:t> project is imported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7462D7-B3C2-756D-7CE0-24337F838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24" y="1815459"/>
            <a:ext cx="7772400" cy="4562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9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83206-D3BB-8E28-E8E4-533064339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59764"/>
            <a:ext cx="10515600" cy="1685327"/>
          </a:xfrm>
        </p:spPr>
        <p:txBody>
          <a:bodyPr>
            <a:normAutofit/>
          </a:bodyPr>
          <a:lstStyle/>
          <a:p>
            <a:r>
              <a:rPr lang="en-GB" dirty="0"/>
              <a:t>Step 2 </a:t>
            </a:r>
            <a:r>
              <a:rPr lang="en-HK" dirty="0"/>
              <a:t> Model Layer (Employee Entity)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1ADE0-191A-A322-3D41-E1321DDC9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737" y="791824"/>
            <a:ext cx="10515600" cy="106747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2400" b="1" dirty="0"/>
              <a:t>Package: </a:t>
            </a:r>
            <a:r>
              <a:rPr lang="en-GB" sz="2400" dirty="0">
                <a:solidFill>
                  <a:srgbClr val="FF0000"/>
                </a:solidFill>
              </a:rPr>
              <a:t>hk.edu.hkiit.itp4511.employee_api.model</a:t>
            </a:r>
            <a:r>
              <a:rPr lang="en-GB" sz="2400" dirty="0"/>
              <a:t>;</a:t>
            </a:r>
          </a:p>
          <a:p>
            <a:r>
              <a:rPr lang="en-HK" sz="2400" b="1" dirty="0"/>
              <a:t>File:</a:t>
            </a:r>
            <a:r>
              <a:rPr lang="en-HK" sz="2400" dirty="0"/>
              <a:t> </a:t>
            </a:r>
            <a:r>
              <a:rPr lang="en-HK" sz="2400" dirty="0" err="1"/>
              <a:t>Employee.java</a:t>
            </a:r>
            <a:r>
              <a:rPr lang="en-HK" sz="2400" dirty="0"/>
              <a:t>: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C876B-7042-298B-48CA-D99FBAFA60CF}"/>
              </a:ext>
            </a:extLst>
          </p:cNvPr>
          <p:cNvSpPr txBox="1"/>
          <p:nvPr/>
        </p:nvSpPr>
        <p:spPr>
          <a:xfrm>
            <a:off x="133663" y="1694410"/>
            <a:ext cx="1192467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hk.edu.hkiit.itp4511.employee_api.model;</a:t>
            </a:r>
            <a:b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16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jakarta.persistence</a:t>
            </a:r>
            <a:r>
              <a:rPr lang="en-GB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@Entity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@Table(name = "employees")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Employee {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@Id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GeneratedValue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(strategy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GenerationType.IDENTITY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Long id;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@Column(name = "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nullable = false)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@Column(name = "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nullable = false)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@Column(name = "email", nullable = false, unique = true)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String email;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Getters and Setters (generate in NetBeans)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467D5-D250-6D00-53EC-9BBA2FA59FD8}"/>
              </a:ext>
            </a:extLst>
          </p:cNvPr>
          <p:cNvSpPr txBox="1"/>
          <p:nvPr/>
        </p:nvSpPr>
        <p:spPr>
          <a:xfrm>
            <a:off x="6165506" y="1912461"/>
            <a:ext cx="5892831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dirty="0"/>
              <a:t>The </a:t>
            </a:r>
            <a:r>
              <a:rPr lang="en-HK" b="1" dirty="0"/>
              <a:t>Model</a:t>
            </a:r>
            <a:r>
              <a:rPr lang="en-HK" dirty="0"/>
              <a:t> holds the application data. </a:t>
            </a:r>
            <a:endParaRPr lang="en-HK" b="1" dirty="0"/>
          </a:p>
          <a:p>
            <a:r>
              <a:rPr lang="en-HK" b="1" dirty="0"/>
              <a:t>@Entity</a:t>
            </a:r>
            <a:r>
              <a:rPr lang="en-HK" dirty="0"/>
              <a:t> and </a:t>
            </a:r>
            <a:r>
              <a:rPr lang="en-HK" b="1" dirty="0"/>
              <a:t>@Table</a:t>
            </a:r>
            <a:r>
              <a:rPr lang="en-HK" dirty="0"/>
              <a:t> map the class to a database table.</a:t>
            </a:r>
          </a:p>
          <a:p>
            <a:endParaRPr lang="en-HK" dirty="0"/>
          </a:p>
          <a:p>
            <a:r>
              <a:rPr lang="en-HK" dirty="0"/>
              <a:t>JPA annotations define the primary key and constraints.</a:t>
            </a:r>
          </a:p>
          <a:p>
            <a:r>
              <a:rPr lang="en-HK" b="1" dirty="0"/>
              <a:t>@Id</a:t>
            </a:r>
            <a:r>
              <a:rPr lang="en-HK" dirty="0"/>
              <a:t> and </a:t>
            </a:r>
            <a:r>
              <a:rPr lang="en-HK" b="1" dirty="0"/>
              <a:t>@</a:t>
            </a:r>
            <a:r>
              <a:rPr lang="en-HK" b="1" dirty="0" err="1"/>
              <a:t>GeneratedValue</a:t>
            </a:r>
            <a:r>
              <a:rPr lang="en-HK" b="1" dirty="0"/>
              <a:t> </a:t>
            </a:r>
            <a:r>
              <a:rPr lang="en-HK" dirty="0"/>
              <a:t>define the primary key.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51D0BE-C652-2ACD-A619-A7F654CC7320}"/>
              </a:ext>
            </a:extLst>
          </p:cNvPr>
          <p:cNvSpPr txBox="1"/>
          <p:nvPr/>
        </p:nvSpPr>
        <p:spPr>
          <a:xfrm>
            <a:off x="6581927" y="4404147"/>
            <a:ext cx="530527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dirty="0"/>
              <a:t>The Model holds the data. </a:t>
            </a:r>
          </a:p>
          <a:p>
            <a:r>
              <a:rPr lang="en-HK" dirty="0"/>
              <a:t>JPA annotations map this class to a database table.</a:t>
            </a:r>
          </a:p>
        </p:txBody>
      </p:sp>
    </p:spTree>
    <p:extLst>
      <p:ext uri="{BB962C8B-B14F-4D97-AF65-F5344CB8AC3E}">
        <p14:creationId xmlns:p14="http://schemas.microsoft.com/office/powerpoint/2010/main" val="2469247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D5FCB-BC9A-0BD6-ED3E-432E510B4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FBD7-E4C0-591B-DEE0-46D9D8D6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Step 3: Persistence Layer – Repository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66D4-D7D0-594A-7610-62F5B506C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495" y="1001620"/>
            <a:ext cx="10515600" cy="106747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2400" dirty="0"/>
              <a:t>Package </a:t>
            </a:r>
            <a:r>
              <a:rPr lang="en-GB" sz="2400" dirty="0">
                <a:solidFill>
                  <a:srgbClr val="FF0000"/>
                </a:solidFill>
              </a:rPr>
              <a:t>hk.edu.hkiit.itp4511.employee_api.repository</a:t>
            </a:r>
            <a:r>
              <a:rPr lang="en-GB" sz="2400" dirty="0"/>
              <a:t>;</a:t>
            </a:r>
          </a:p>
          <a:p>
            <a:r>
              <a:rPr lang="en-HK" sz="2400" dirty="0"/>
              <a:t>File: </a:t>
            </a:r>
            <a:r>
              <a:rPr lang="en-HK" sz="2400" dirty="0" err="1"/>
              <a:t>EmployeeRepository.java</a:t>
            </a:r>
            <a:r>
              <a:rPr lang="en-HK" sz="2400" dirty="0"/>
              <a:t>: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AA63F-A94F-F35A-6FAB-8FFE0DF2D76C}"/>
              </a:ext>
            </a:extLst>
          </p:cNvPr>
          <p:cNvSpPr txBox="1"/>
          <p:nvPr/>
        </p:nvSpPr>
        <p:spPr>
          <a:xfrm>
            <a:off x="133663" y="3238397"/>
            <a:ext cx="1192467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hk.edu.hkiit.itp4511.employee_api.repository;  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hk.edu.hkiit.itp4511.employee_api.model.Employee;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org.springframework.data.jpa.repository.JpaRepository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org.springframework.stereotype.Repository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@Repository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extends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JpaRepository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&lt;Employee, Long&gt;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843306-5FFF-8E8E-638B-2A6DD6448022}"/>
              </a:ext>
            </a:extLst>
          </p:cNvPr>
          <p:cNvSpPr txBox="1"/>
          <p:nvPr/>
        </p:nvSpPr>
        <p:spPr>
          <a:xfrm>
            <a:off x="6096000" y="1761069"/>
            <a:ext cx="5892831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dirty="0"/>
              <a:t>The </a:t>
            </a:r>
            <a:r>
              <a:rPr lang="en-HK" b="1" dirty="0"/>
              <a:t>Repository</a:t>
            </a:r>
            <a:r>
              <a:rPr lang="en-HK" dirty="0"/>
              <a:t> (Persistence Layer) provides </a:t>
            </a:r>
            <a:r>
              <a:rPr lang="en-HK" dirty="0">
                <a:highlight>
                  <a:srgbClr val="FFFF00"/>
                </a:highlight>
              </a:rPr>
              <a:t>CRUD operations without writing SQL.</a:t>
            </a:r>
          </a:p>
          <a:p>
            <a:r>
              <a:rPr lang="en-HK" dirty="0"/>
              <a:t> </a:t>
            </a:r>
            <a:r>
              <a:rPr lang="en-HK" dirty="0" err="1"/>
              <a:t>JpaRepository</a:t>
            </a:r>
            <a:r>
              <a:rPr lang="en-HK" dirty="0"/>
              <a:t> supplies save(), </a:t>
            </a:r>
            <a:r>
              <a:rPr lang="en-HK" dirty="0" err="1"/>
              <a:t>findAll</a:t>
            </a:r>
            <a:r>
              <a:rPr lang="en-HK" dirty="0"/>
              <a:t>(), </a:t>
            </a:r>
            <a:r>
              <a:rPr lang="en-HK" dirty="0" err="1"/>
              <a:t>findById</a:t>
            </a:r>
            <a:r>
              <a:rPr lang="en-HK" dirty="0"/>
              <a:t>(), </a:t>
            </a:r>
            <a:r>
              <a:rPr lang="en-HK" dirty="0" err="1"/>
              <a:t>deleteById</a:t>
            </a:r>
            <a:r>
              <a:rPr lang="en-HK" dirty="0"/>
              <a:t>(), etc. @Repository enables exception translation.</a:t>
            </a:r>
            <a:endParaRPr lang="en-HK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523B50-DC03-252A-007E-520143C2A894}"/>
              </a:ext>
            </a:extLst>
          </p:cNvPr>
          <p:cNvSpPr txBox="1"/>
          <p:nvPr/>
        </p:nvSpPr>
        <p:spPr>
          <a:xfrm>
            <a:off x="1633928" y="6370820"/>
            <a:ext cx="702038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HK" dirty="0" err="1"/>
              <a:t>JpaRepository</a:t>
            </a:r>
            <a:r>
              <a:rPr lang="en-HK" dirty="0"/>
              <a:t> gives us all CRUD methods for free — no SQL required.</a:t>
            </a:r>
          </a:p>
        </p:txBody>
      </p:sp>
    </p:spTree>
    <p:extLst>
      <p:ext uri="{BB962C8B-B14F-4D97-AF65-F5344CB8AC3E}">
        <p14:creationId xmlns:p14="http://schemas.microsoft.com/office/powerpoint/2010/main" val="1109735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6E3D3-19E5-9E38-AAFD-07C35A759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FF9E6-AD39-7B27-C77A-A5F866184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Step 4: Create the Business Layer – Service </a:t>
            </a:r>
            <a:br>
              <a:rPr lang="en-HK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33FE-9CB0-EE95-7499-E47241C46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737" y="791824"/>
            <a:ext cx="10515600" cy="106747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2400" dirty="0"/>
              <a:t>Package: </a:t>
            </a:r>
            <a:r>
              <a:rPr lang="en-GB" sz="2400" dirty="0">
                <a:solidFill>
                  <a:srgbClr val="FF0000"/>
                </a:solidFill>
              </a:rPr>
              <a:t>hk.edu.hkiit.itp4511.employee_api.service</a:t>
            </a:r>
            <a:r>
              <a:rPr lang="en-GB" sz="2400" dirty="0"/>
              <a:t>;</a:t>
            </a:r>
          </a:p>
          <a:p>
            <a:r>
              <a:rPr lang="en-HK" sz="2400" dirty="0"/>
              <a:t>File: </a:t>
            </a:r>
            <a:r>
              <a:rPr lang="en-HK" sz="2400" dirty="0" err="1"/>
              <a:t>EmployeeService.java</a:t>
            </a:r>
            <a:r>
              <a:rPr lang="en-HK" sz="2400" dirty="0"/>
              <a:t>: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EAA20-17B0-D3CC-4515-70D37792D425}"/>
              </a:ext>
            </a:extLst>
          </p:cNvPr>
          <p:cNvSpPr txBox="1"/>
          <p:nvPr/>
        </p:nvSpPr>
        <p:spPr>
          <a:xfrm>
            <a:off x="203169" y="1859301"/>
            <a:ext cx="11924674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hk.edu.hkiit.itp4511.employee_api.service;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hk.edu.hkiit.itp4511.employee_api.model.Employee;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hk.edu.hkiit.itp4511.employee_api.repository.EmployeeRepository;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java.util.List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java.util.Optional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org.springframework.beans.factory.annotation.Autowired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org.springframework.stereotype.Service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@Service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  <a:endParaRPr lang="en-GB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HK" sz="1600" dirty="0"/>
              <a:t>          </a:t>
            </a:r>
            <a:r>
              <a:rPr lang="en-HK" sz="1600" dirty="0">
                <a:highlight>
                  <a:srgbClr val="FFFF00"/>
                </a:highlight>
              </a:rPr>
              <a:t>// methods continue on next slide</a:t>
            </a:r>
          </a:p>
          <a:p>
            <a:endParaRPr lang="en-GB" sz="1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E2C9A-DE41-79B1-028A-4543E347D83B}"/>
              </a:ext>
            </a:extLst>
          </p:cNvPr>
          <p:cNvSpPr txBox="1"/>
          <p:nvPr/>
        </p:nvSpPr>
        <p:spPr>
          <a:xfrm>
            <a:off x="8104234" y="3320046"/>
            <a:ext cx="3954103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dirty="0"/>
              <a:t>The </a:t>
            </a:r>
            <a:r>
              <a:rPr lang="en-HK" b="1" dirty="0"/>
              <a:t>Service</a:t>
            </a:r>
            <a:r>
              <a:rPr lang="en-HK" dirty="0"/>
              <a:t> layer contains business logic. @Service registers it as a Spring-managed bean. </a:t>
            </a:r>
          </a:p>
          <a:p>
            <a:endParaRPr lang="en-HK" dirty="0"/>
          </a:p>
          <a:p>
            <a:r>
              <a:rPr lang="en-HK" dirty="0"/>
              <a:t>@</a:t>
            </a:r>
            <a:r>
              <a:rPr lang="en-HK" dirty="0" err="1"/>
              <a:t>Autowired</a:t>
            </a:r>
            <a:r>
              <a:rPr lang="en-HK" dirty="0"/>
              <a:t> injects the repository via </a:t>
            </a:r>
            <a:r>
              <a:rPr lang="en-HK" b="1" dirty="0"/>
              <a:t>Dependency Injection</a:t>
            </a:r>
            <a:r>
              <a:rPr lang="en-HK" dirty="0"/>
              <a:t> (Inversion of Control).</a:t>
            </a:r>
            <a:endParaRPr lang="en-HK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19CC9-E4CC-31AC-649F-C941484E43C7}"/>
              </a:ext>
            </a:extLst>
          </p:cNvPr>
          <p:cNvSpPr txBox="1"/>
          <p:nvPr/>
        </p:nvSpPr>
        <p:spPr>
          <a:xfrm>
            <a:off x="10531377" y="211246"/>
            <a:ext cx="75559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Part 1</a:t>
            </a:r>
          </a:p>
        </p:txBody>
      </p:sp>
    </p:spTree>
    <p:extLst>
      <p:ext uri="{BB962C8B-B14F-4D97-AF65-F5344CB8AC3E}">
        <p14:creationId xmlns:p14="http://schemas.microsoft.com/office/powerpoint/2010/main" val="1766502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2C011-F01F-B79A-0E16-58918F069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4FF8E-AD0B-6105-3502-15803FDB2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Step 4: Create the Business Layer – Service</a:t>
            </a:r>
            <a:br>
              <a:rPr lang="en-HK" dirty="0"/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A0082-3F09-3A72-85F0-6BF0303F6347}"/>
              </a:ext>
            </a:extLst>
          </p:cNvPr>
          <p:cNvSpPr txBox="1"/>
          <p:nvPr/>
        </p:nvSpPr>
        <p:spPr>
          <a:xfrm>
            <a:off x="203169" y="899930"/>
            <a:ext cx="1192467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List&lt;Employee&gt; </a:t>
            </a:r>
            <a:r>
              <a:rPr lang="en-GB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getAllEmployees</a:t>
            </a:r>
            <a:r>
              <a:rPr lang="en-GB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employeeRepository.findAll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Optional&lt;Employee&gt; </a:t>
            </a:r>
            <a:r>
              <a:rPr lang="en-GB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getEmployeeById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(Long id) {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employeeRepository.findById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Employee </a:t>
            </a:r>
            <a:r>
              <a:rPr lang="en-GB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createEmployee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(Employee employee) {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employeeRepository.save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(employee);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Employee </a:t>
            </a:r>
            <a:r>
              <a:rPr lang="en-GB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updateEmployee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(Long id, Employee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updatedEmployee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employeeRepository.findById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(id)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.map(employee -&gt; {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employee.setFirstName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updatedEmployee.getFirstName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employee.setLastName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updatedEmployee.getLastName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employee.setEmail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updatedEmployee.getEmail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return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employeeRepository.save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(employee);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})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.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orElseThrow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(() -&gt; new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("Employee not found"));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</a:t>
            </a:r>
            <a:r>
              <a:rPr lang="en-GB" sz="14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deleteEmployee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(Long id) {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employeeRepository.deleteById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984DF4-D7E7-7C28-8146-425B1D678ECB}"/>
              </a:ext>
            </a:extLst>
          </p:cNvPr>
          <p:cNvSpPr txBox="1"/>
          <p:nvPr/>
        </p:nvSpPr>
        <p:spPr>
          <a:xfrm>
            <a:off x="10531377" y="211246"/>
            <a:ext cx="75559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Part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48C92-88A0-BAE6-32B2-8BDA3965A486}"/>
              </a:ext>
            </a:extLst>
          </p:cNvPr>
          <p:cNvSpPr txBox="1"/>
          <p:nvPr/>
        </p:nvSpPr>
        <p:spPr>
          <a:xfrm>
            <a:off x="7824240" y="1918741"/>
            <a:ext cx="3462728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dirty="0"/>
              <a:t>The Service layer contains business logic and uses constructor injection.</a:t>
            </a:r>
          </a:p>
        </p:txBody>
      </p:sp>
    </p:spTree>
    <p:extLst>
      <p:ext uri="{BB962C8B-B14F-4D97-AF65-F5344CB8AC3E}">
        <p14:creationId xmlns:p14="http://schemas.microsoft.com/office/powerpoint/2010/main" val="27412287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FFB1-CC69-1A9C-5318-F04AB288B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E32B3-9666-0034-34E4-BB5D7CB4B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27418"/>
          </a:xfrm>
        </p:spPr>
        <p:txBody>
          <a:bodyPr>
            <a:normAutofit fontScale="90000"/>
          </a:bodyPr>
          <a:lstStyle/>
          <a:p>
            <a:r>
              <a:rPr lang="en-HK" dirty="0"/>
              <a:t>Step 5:  Presentation Layer – REST Controller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243A8-F1CC-726D-4CC7-26B908DF7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8289" y="627418"/>
            <a:ext cx="9450048" cy="1231884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2400" dirty="0"/>
              <a:t>Package: </a:t>
            </a:r>
            <a:r>
              <a:rPr lang="en-GB" sz="2400" dirty="0">
                <a:solidFill>
                  <a:srgbClr val="FF0000"/>
                </a:solidFill>
              </a:rPr>
              <a:t>hk.edu.hkiit.itp4511.employee_api.controller</a:t>
            </a:r>
            <a:r>
              <a:rPr lang="en-GB" sz="2400" dirty="0"/>
              <a:t>;</a:t>
            </a:r>
          </a:p>
          <a:p>
            <a:r>
              <a:rPr lang="en-HK" sz="2400" dirty="0"/>
              <a:t>File: </a:t>
            </a:r>
            <a:r>
              <a:rPr lang="en-HK" sz="2400" dirty="0" err="1"/>
              <a:t>EmployeeController.java</a:t>
            </a:r>
            <a:r>
              <a:rPr lang="en-HK" sz="2400" dirty="0"/>
              <a:t>: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0D168-1175-422E-EA37-89E1D2D42068}"/>
              </a:ext>
            </a:extLst>
          </p:cNvPr>
          <p:cNvSpPr txBox="1"/>
          <p:nvPr/>
        </p:nvSpPr>
        <p:spPr>
          <a:xfrm>
            <a:off x="203169" y="1529517"/>
            <a:ext cx="1192467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hk.edu.hkiit.itp4511.employee_api.controller;</a:t>
            </a:r>
          </a:p>
          <a:p>
            <a:r>
              <a:rPr lang="en-GB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import lib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RestController</a:t>
            </a:r>
            <a:endParaRPr lang="en-GB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RequestMapping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/employees")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EmployeeController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  <a:endParaRPr lang="en-GB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EmployeeController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this.employeeService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GetMapping</a:t>
            </a:r>
            <a:endParaRPr lang="en-GB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List&lt;Employee&gt;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getAllEmployees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employeeService.getAllEmployees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HK" sz="1600" dirty="0"/>
              <a:t> </a:t>
            </a:r>
            <a:r>
              <a:rPr lang="en-HK" sz="1600" dirty="0">
                <a:highlight>
                  <a:srgbClr val="FFFF00"/>
                </a:highlight>
              </a:rPr>
              <a:t>// methods continue on next slide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FD2F5-0E87-B3BB-0595-2B19AA8225A7}"/>
              </a:ext>
            </a:extLst>
          </p:cNvPr>
          <p:cNvSpPr txBox="1"/>
          <p:nvPr/>
        </p:nvSpPr>
        <p:spPr>
          <a:xfrm>
            <a:off x="6950439" y="1468739"/>
            <a:ext cx="5266544" cy="25853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b="1" dirty="0"/>
              <a:t>@</a:t>
            </a:r>
            <a:r>
              <a:rPr lang="en-HK" b="1" dirty="0" err="1"/>
              <a:t>RestController</a:t>
            </a:r>
            <a:r>
              <a:rPr lang="en-HK" dirty="0"/>
              <a:t> = Controller + automatic JSON conversion (no </a:t>
            </a:r>
            <a:r>
              <a:rPr lang="en-HK" dirty="0" err="1"/>
              <a:t>ViewResolver</a:t>
            </a:r>
            <a:r>
              <a:rPr lang="en-HK" dirty="0"/>
              <a:t> needed).</a:t>
            </a:r>
          </a:p>
          <a:p>
            <a:r>
              <a:rPr lang="en-HK" b="1" dirty="0"/>
              <a:t>@</a:t>
            </a:r>
            <a:r>
              <a:rPr lang="en-HK" b="1" dirty="0" err="1"/>
              <a:t>RequestMapping</a:t>
            </a:r>
            <a:r>
              <a:rPr lang="en-HK" dirty="0"/>
              <a:t> sets the base URI for the resource.</a:t>
            </a:r>
          </a:p>
          <a:p>
            <a:r>
              <a:rPr lang="en-HK" b="1" dirty="0"/>
              <a:t>@</a:t>
            </a:r>
            <a:r>
              <a:rPr lang="en-HK" b="1" dirty="0" err="1"/>
              <a:t>GetMapping</a:t>
            </a:r>
            <a:r>
              <a:rPr lang="en-HK" dirty="0"/>
              <a:t>, </a:t>
            </a:r>
            <a:r>
              <a:rPr lang="en-HK" b="1" dirty="0"/>
              <a:t>@</a:t>
            </a:r>
            <a:r>
              <a:rPr lang="en-HK" b="1" dirty="0" err="1"/>
              <a:t>PostMapping</a:t>
            </a:r>
            <a:r>
              <a:rPr lang="en-HK" dirty="0"/>
              <a:t>, etc., are shortcuts for HTTP methods (REST uniform interface).</a:t>
            </a:r>
          </a:p>
          <a:p>
            <a:r>
              <a:rPr lang="en-HK" dirty="0"/>
              <a:t>The </a:t>
            </a:r>
            <a:r>
              <a:rPr lang="en-HK" dirty="0" err="1"/>
              <a:t>DispatcherServlet</a:t>
            </a:r>
            <a:r>
              <a:rPr lang="en-HK" dirty="0"/>
              <a:t> (Front Controller) automatically routes every request to the correct method.</a:t>
            </a:r>
            <a:endParaRPr lang="en-HK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56664A-6931-306B-CDE8-47FDB493F088}"/>
              </a:ext>
            </a:extLst>
          </p:cNvPr>
          <p:cNvSpPr txBox="1"/>
          <p:nvPr/>
        </p:nvSpPr>
        <p:spPr>
          <a:xfrm>
            <a:off x="10531377" y="211246"/>
            <a:ext cx="75559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Part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F142A-62D4-44CF-E9A2-F4DBFED88852}"/>
              </a:ext>
            </a:extLst>
          </p:cNvPr>
          <p:cNvSpPr txBox="1"/>
          <p:nvPr/>
        </p:nvSpPr>
        <p:spPr>
          <a:xfrm>
            <a:off x="4330682" y="5899944"/>
            <a:ext cx="751180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HK" dirty="0"/>
              <a:t>@</a:t>
            </a:r>
            <a:r>
              <a:rPr lang="en-HK" dirty="0" err="1"/>
              <a:t>RestController</a:t>
            </a:r>
            <a:r>
              <a:rPr lang="en-HK" dirty="0"/>
              <a:t> + HTTP method annotations turn this into a full REST API. </a:t>
            </a:r>
          </a:p>
          <a:p>
            <a:r>
              <a:rPr lang="en-HK" dirty="0"/>
              <a:t>The </a:t>
            </a:r>
            <a:r>
              <a:rPr lang="en-HK" dirty="0" err="1"/>
              <a:t>DispatcherServlet</a:t>
            </a:r>
            <a:r>
              <a:rPr lang="en-HK" dirty="0"/>
              <a:t> routes every request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942765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10A99-6A51-7DC9-A198-44144BEC5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FB089-8799-60BD-6853-A63764F2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Step 5: Create the Presentation Layer – REST Controller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593A2F-3957-2F0B-EB8A-760FFFE3E6C1}"/>
              </a:ext>
            </a:extLst>
          </p:cNvPr>
          <p:cNvSpPr txBox="1"/>
          <p:nvPr/>
        </p:nvSpPr>
        <p:spPr>
          <a:xfrm>
            <a:off x="267326" y="1478500"/>
            <a:ext cx="1100386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@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GetMapping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("/{id}")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&lt;Employee&gt;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getEmployeeById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PathVariable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Long id) {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employeeService.getEmployeeById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(id)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.map(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::ok)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.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orElse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ResponseEntity.notFound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().build());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PostMapping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Employee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createEmployee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RequestBody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employee) {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employeeService.createEmployee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(employee);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PutMapping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("/{id}")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&lt;Employee&gt;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updateEmployee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PathVariable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Long id, @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RequestBody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Employee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updatedEmployee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ResponseEntity.ok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employeeService.updateEmployee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(id,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updatedEmployee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catch (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RuntimeException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ResponseEntity.notFound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().build();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GB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DeleteMapping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("/{id}")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&lt;Void&gt;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deleteEmployee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PathVariable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Long id) {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employeeService.deleteEmployee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(id);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ResponseEntity.noContent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().build();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DB900B-A9EC-6ED8-8ED2-E042DC4628A3}"/>
              </a:ext>
            </a:extLst>
          </p:cNvPr>
          <p:cNvSpPr txBox="1"/>
          <p:nvPr/>
        </p:nvSpPr>
        <p:spPr>
          <a:xfrm>
            <a:off x="10515600" y="301187"/>
            <a:ext cx="75559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611002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103E2-856B-950D-B217-E2BAA47F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58C8-1326-C1E7-F073-A26E594F4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Step 6 Employee Data Initializer Class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1EF22-7364-2E1C-3913-B394A199A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737" y="791824"/>
            <a:ext cx="10515600" cy="106747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GB" sz="2400" dirty="0"/>
              <a:t>Create package </a:t>
            </a:r>
            <a:r>
              <a:rPr lang="en-GB" sz="2400" dirty="0">
                <a:solidFill>
                  <a:srgbClr val="FF0000"/>
                </a:solidFill>
              </a:rPr>
              <a:t>hk.edu.hkiit.itp4511.employee_api.bootstrap</a:t>
            </a:r>
            <a:r>
              <a:rPr lang="en-GB" sz="2400" dirty="0"/>
              <a:t>;</a:t>
            </a:r>
          </a:p>
          <a:p>
            <a:r>
              <a:rPr lang="en-HK" sz="2400" dirty="0"/>
              <a:t>create </a:t>
            </a:r>
            <a:r>
              <a:rPr lang="en-HK" sz="2400" dirty="0" err="1"/>
              <a:t>EmployeeDataInitializer.java</a:t>
            </a:r>
            <a:r>
              <a:rPr lang="en-HK" sz="2400" dirty="0"/>
              <a:t>: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D35C5-4667-922E-0011-653DB366EB3A}"/>
              </a:ext>
            </a:extLst>
          </p:cNvPr>
          <p:cNvSpPr txBox="1"/>
          <p:nvPr/>
        </p:nvSpPr>
        <p:spPr>
          <a:xfrm>
            <a:off x="203169" y="1859301"/>
            <a:ext cx="1192467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package hk.edu.hkiit.itp4511.employee_api.bootstrap;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@Component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GB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EmployeeDataInitializer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implements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CommandLineRunner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private final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@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EmployeeDataInitializer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this.employeeRepository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HK" sz="1600" dirty="0"/>
              <a:t> </a:t>
            </a:r>
            <a:r>
              <a:rPr lang="en-HK" sz="1600" dirty="0">
                <a:highlight>
                  <a:srgbClr val="FFFF00"/>
                </a:highlight>
              </a:rPr>
              <a:t>// methods continue on next slide</a:t>
            </a:r>
            <a:endParaRPr lang="en-GB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30DC12-BD3A-4331-38A4-D08C3BE77609}"/>
              </a:ext>
            </a:extLst>
          </p:cNvPr>
          <p:cNvSpPr txBox="1"/>
          <p:nvPr/>
        </p:nvSpPr>
        <p:spPr>
          <a:xfrm>
            <a:off x="7216962" y="1372402"/>
            <a:ext cx="4771869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b="1" dirty="0"/>
              <a:t>@</a:t>
            </a:r>
            <a:r>
              <a:rPr lang="en-HK" b="1" dirty="0" err="1"/>
              <a:t>RestController</a:t>
            </a:r>
            <a:r>
              <a:rPr lang="en-HK" dirty="0"/>
              <a:t> = Controller + automatic JSON conversion (no </a:t>
            </a:r>
            <a:r>
              <a:rPr lang="en-HK" dirty="0" err="1"/>
              <a:t>ViewResolver</a:t>
            </a:r>
            <a:r>
              <a:rPr lang="en-HK" dirty="0"/>
              <a:t> needed).</a:t>
            </a:r>
          </a:p>
          <a:p>
            <a:r>
              <a:rPr lang="en-HK" b="1" dirty="0"/>
              <a:t>@</a:t>
            </a:r>
            <a:r>
              <a:rPr lang="en-HK" b="1" dirty="0" err="1"/>
              <a:t>RequestMapping</a:t>
            </a:r>
            <a:r>
              <a:rPr lang="en-HK" dirty="0"/>
              <a:t> sets the base URI for the resource.</a:t>
            </a:r>
          </a:p>
          <a:p>
            <a:r>
              <a:rPr lang="en-HK" b="1" dirty="0"/>
              <a:t>@</a:t>
            </a:r>
            <a:r>
              <a:rPr lang="en-HK" b="1" dirty="0" err="1"/>
              <a:t>GetMapping</a:t>
            </a:r>
            <a:r>
              <a:rPr lang="en-HK" dirty="0"/>
              <a:t>, </a:t>
            </a:r>
            <a:r>
              <a:rPr lang="en-HK" b="1" dirty="0"/>
              <a:t>@</a:t>
            </a:r>
            <a:r>
              <a:rPr lang="en-HK" b="1" dirty="0" err="1"/>
              <a:t>PostMapping</a:t>
            </a:r>
            <a:r>
              <a:rPr lang="en-HK" dirty="0"/>
              <a:t>, etc., are shortcuts for HTTP methods (REST uniform interface).</a:t>
            </a:r>
          </a:p>
          <a:p>
            <a:r>
              <a:rPr lang="en-HK" dirty="0"/>
              <a:t>The </a:t>
            </a:r>
            <a:r>
              <a:rPr lang="en-HK" dirty="0" err="1"/>
              <a:t>DispatcherServlet</a:t>
            </a:r>
            <a:r>
              <a:rPr lang="en-HK" dirty="0"/>
              <a:t> (Front Controller) automatically routes every request to the correct method.</a:t>
            </a:r>
            <a:endParaRPr lang="en-HK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24EA4-C69A-EB5B-6510-6FA0E463E29A}"/>
              </a:ext>
            </a:extLst>
          </p:cNvPr>
          <p:cNvSpPr txBox="1"/>
          <p:nvPr/>
        </p:nvSpPr>
        <p:spPr>
          <a:xfrm>
            <a:off x="10531377" y="211246"/>
            <a:ext cx="75559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Part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4FB54-C476-8082-B7A9-F984858256FB}"/>
              </a:ext>
            </a:extLst>
          </p:cNvPr>
          <p:cNvSpPr txBox="1"/>
          <p:nvPr/>
        </p:nvSpPr>
        <p:spPr>
          <a:xfrm>
            <a:off x="4738513" y="5696844"/>
            <a:ext cx="72503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HK" dirty="0"/>
              <a:t>This class automatically seeds the database on startup for easy testing.</a:t>
            </a:r>
          </a:p>
        </p:txBody>
      </p:sp>
    </p:spTree>
    <p:extLst>
      <p:ext uri="{BB962C8B-B14F-4D97-AF65-F5344CB8AC3E}">
        <p14:creationId xmlns:p14="http://schemas.microsoft.com/office/powerpoint/2010/main" val="2208625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7FCA9-C6B1-DE91-B450-4DD7B0E58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CA799-F5F8-0650-AE15-C7A52289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Step 6 Employee Data Initializer Class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BA489-813C-1C6F-213B-A53F3454D616}"/>
              </a:ext>
            </a:extLst>
          </p:cNvPr>
          <p:cNvSpPr txBox="1"/>
          <p:nvPr/>
        </p:nvSpPr>
        <p:spPr>
          <a:xfrm>
            <a:off x="267326" y="884338"/>
            <a:ext cx="1192467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void run(String...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throws Exception {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("\n=== 🚀 Loading Sample Employee Data ===");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Clear any previous data (ensures a fresh, consistent dataset on every restart)</a:t>
            </a:r>
          </a:p>
          <a:p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employeeRepository.deleteAll</a:t>
            </a:r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Create a clean list of employees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Employee emp1 = new Employee();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emp1.setFirstName("Alice");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emp1.setLastName("Johnson");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emp1.setEmail("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alice.johnson@example.com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Employee emp2 = new Employee();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emp2.setFirstName("Bob");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emp2.setLastName("Smith");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emp2.setEmail("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bob.smith@example.com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Employee emp3 = new Employee();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emp3.setFirstName("Charlie");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emp3.setLastName("Brown");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emp3.setEmail("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charlie.brown@example.com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Employee emp4 = new Employee();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emp4.setFirstName("Diana");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emp4.setLastName("Prince");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emp4.setEmail("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diana.prince@example.com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endParaRPr lang="en-GB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Save all employees at once</a:t>
            </a:r>
          </a:p>
          <a:p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employeeRepository.saveAll</a:t>
            </a:r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List.of</a:t>
            </a:r>
            <a:r>
              <a:rPr lang="en-GB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(emp1, emp2, emp3, emp4));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long count =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employeeRepository.count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("✅ Successfully loaded " + count + " sample employees into the database.\n");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69411E-5E23-668F-C1E3-583E56B5B43E}"/>
              </a:ext>
            </a:extLst>
          </p:cNvPr>
          <p:cNvSpPr txBox="1"/>
          <p:nvPr/>
        </p:nvSpPr>
        <p:spPr>
          <a:xfrm>
            <a:off x="7216962" y="1372402"/>
            <a:ext cx="4771869" cy="39703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b="1" dirty="0"/>
              <a:t>@Component</a:t>
            </a:r>
            <a:r>
              <a:rPr lang="en-HK" dirty="0"/>
              <a:t> → Spring automatically detects and instantiates this class.</a:t>
            </a:r>
          </a:p>
          <a:p>
            <a:endParaRPr lang="en-HK" dirty="0"/>
          </a:p>
          <a:p>
            <a:r>
              <a:rPr lang="en-HK" b="1" dirty="0" err="1"/>
              <a:t>CommandLineRunner</a:t>
            </a:r>
            <a:r>
              <a:rPr lang="en-HK" dirty="0"/>
              <a:t> → The run() method executes automatically after the Spring Boot application context is fully loaded (but before the server starts accepting requests). </a:t>
            </a:r>
          </a:p>
          <a:p>
            <a:endParaRPr lang="en-HK" b="1" dirty="0"/>
          </a:p>
          <a:p>
            <a:r>
              <a:rPr lang="en-HK" b="1" dirty="0" err="1"/>
              <a:t>employeeRepository.saveAll</a:t>
            </a:r>
            <a:r>
              <a:rPr lang="en-HK" b="1" dirty="0"/>
              <a:t>(...)</a:t>
            </a:r>
            <a:r>
              <a:rPr lang="en-HK" dirty="0"/>
              <a:t> → Uses the </a:t>
            </a:r>
            <a:r>
              <a:rPr lang="en-HK" dirty="0" err="1"/>
              <a:t>JpaRepository</a:t>
            </a:r>
            <a:r>
              <a:rPr lang="en-HK" dirty="0"/>
              <a:t> method you already learned, demonstrating the Persistence Layer in action. </a:t>
            </a:r>
            <a:r>
              <a:rPr lang="en-HK" dirty="0" err="1"/>
              <a:t>deleteAll</a:t>
            </a:r>
            <a:r>
              <a:rPr lang="en-HK" dirty="0"/>
              <a:t>() → Guarantees a fresh dataset on every restart (ideal for development and workshop testing).</a:t>
            </a:r>
            <a:endParaRPr lang="en-HK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3578F-3DD2-9581-BA80-CD78085B678D}"/>
              </a:ext>
            </a:extLst>
          </p:cNvPr>
          <p:cNvSpPr txBox="1"/>
          <p:nvPr/>
        </p:nvSpPr>
        <p:spPr>
          <a:xfrm>
            <a:off x="10561357" y="211246"/>
            <a:ext cx="75559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Part 2</a:t>
            </a:r>
          </a:p>
        </p:txBody>
      </p:sp>
    </p:spTree>
    <p:extLst>
      <p:ext uri="{BB962C8B-B14F-4D97-AF65-F5344CB8AC3E}">
        <p14:creationId xmlns:p14="http://schemas.microsoft.com/office/powerpoint/2010/main" val="2616254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412A-2332-D105-1CE3-A55C3F3FB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zh-CN" dirty="0"/>
              <a:t>Right Click “</a:t>
            </a:r>
            <a:r>
              <a:rPr lang="en-US" altLang="zh-CN" dirty="0" err="1"/>
              <a:t>EmployeeApiApplication</a:t>
            </a:r>
            <a:r>
              <a:rPr lang="en-US" altLang="zh-CN" dirty="0"/>
              <a:t>” and Click </a:t>
            </a:r>
            <a:r>
              <a:rPr lang="zh-CN" altLang="en-US" b="1" dirty="0"/>
              <a:t>“</a:t>
            </a:r>
            <a:r>
              <a:rPr lang="en-US" altLang="zh-CN" dirty="0"/>
              <a:t>Run”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5CBE5D-06DB-A1A8-C3FE-CC1FDE74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5563"/>
            <a:ext cx="5439534" cy="46583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C59E39-8379-783C-26E8-2AB447868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534" y="3416474"/>
            <a:ext cx="11745964" cy="2734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1698AF-9A67-2BEF-C4A6-B80B4FDBC0C0}"/>
              </a:ext>
            </a:extLst>
          </p:cNvPr>
          <p:cNvSpPr txBox="1"/>
          <p:nvPr/>
        </p:nvSpPr>
        <p:spPr>
          <a:xfrm>
            <a:off x="6538587" y="1817020"/>
            <a:ext cx="5240089" cy="3693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4 sample employees are</a:t>
            </a:r>
            <a:r>
              <a:rPr lang="zh-CN" altLang="en-US" dirty="0"/>
              <a:t> </a:t>
            </a:r>
            <a:r>
              <a:rPr lang="en-US" altLang="zh-CN" dirty="0"/>
              <a:t>created</a:t>
            </a:r>
            <a:r>
              <a:rPr lang="zh-CN" altLang="en-US" dirty="0"/>
              <a:t> </a:t>
            </a:r>
            <a:r>
              <a:rPr lang="en-US" dirty="0"/>
              <a:t> into the database </a:t>
            </a:r>
          </a:p>
        </p:txBody>
      </p:sp>
    </p:spTree>
    <p:extLst>
      <p:ext uri="{BB962C8B-B14F-4D97-AF65-F5344CB8AC3E}">
        <p14:creationId xmlns:p14="http://schemas.microsoft.com/office/powerpoint/2010/main" val="1420882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AA26E-4EE5-5E11-A17C-E08B38826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7469"/>
            <a:ext cx="10515600" cy="1325563"/>
          </a:xfrm>
        </p:spPr>
        <p:txBody>
          <a:bodyPr>
            <a:normAutofit/>
          </a:bodyPr>
          <a:lstStyle/>
          <a:p>
            <a:r>
              <a:rPr lang="en-HK" dirty="0"/>
              <a:t>Step 7: Run and Test the API with Postman App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1994A5-9972-2C69-1711-822DE56BC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265603"/>
              </p:ext>
            </p:extLst>
          </p:nvPr>
        </p:nvGraphicFramePr>
        <p:xfrm>
          <a:off x="329784" y="1268094"/>
          <a:ext cx="10822040" cy="432181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05510">
                  <a:extLst>
                    <a:ext uri="{9D8B030D-6E8A-4147-A177-3AD203B41FA5}">
                      <a16:colId xmlns:a16="http://schemas.microsoft.com/office/drawing/2014/main" val="2317296546"/>
                    </a:ext>
                  </a:extLst>
                </a:gridCol>
                <a:gridCol w="2705510">
                  <a:extLst>
                    <a:ext uri="{9D8B030D-6E8A-4147-A177-3AD203B41FA5}">
                      <a16:colId xmlns:a16="http://schemas.microsoft.com/office/drawing/2014/main" val="2737853442"/>
                    </a:ext>
                  </a:extLst>
                </a:gridCol>
                <a:gridCol w="2705510">
                  <a:extLst>
                    <a:ext uri="{9D8B030D-6E8A-4147-A177-3AD203B41FA5}">
                      <a16:colId xmlns:a16="http://schemas.microsoft.com/office/drawing/2014/main" val="2319190409"/>
                    </a:ext>
                  </a:extLst>
                </a:gridCol>
                <a:gridCol w="2705510">
                  <a:extLst>
                    <a:ext uri="{9D8B030D-6E8A-4147-A177-3AD203B41FA5}">
                      <a16:colId xmlns:a16="http://schemas.microsoft.com/office/drawing/2014/main" val="2813145773"/>
                    </a:ext>
                  </a:extLst>
                </a:gridCol>
              </a:tblGrid>
              <a:tr h="3321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b="1" dirty="0"/>
                        <a:t>HTTP Method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b="1"/>
                        <a:t>URL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b="1" dirty="0"/>
                        <a:t>Body (JSON)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b="1" dirty="0"/>
                        <a:t>Expected Result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558384376"/>
                  </a:ext>
                </a:extLst>
              </a:tr>
              <a:tr h="156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dirty="0"/>
                        <a:t>POST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dirty="0">
                          <a:hlinkClick r:id="rId2"/>
                        </a:rPr>
                        <a:t>http://localhost:8080/api/employees</a:t>
                      </a:r>
                      <a:endParaRPr lang="en-HK" sz="17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dirty="0"/>
                        <a:t>{ "</a:t>
                      </a:r>
                      <a:r>
                        <a:rPr lang="en-HK" sz="1700" dirty="0" err="1"/>
                        <a:t>firstName</a:t>
                      </a:r>
                      <a:r>
                        <a:rPr lang="en-HK" sz="1700" dirty="0"/>
                        <a:t>": "Alice", "</a:t>
                      </a:r>
                      <a:r>
                        <a:rPr lang="en-HK" sz="1700" dirty="0" err="1"/>
                        <a:t>lastName</a:t>
                      </a:r>
                      <a:r>
                        <a:rPr lang="en-HK" sz="1700" dirty="0"/>
                        <a:t>": "Smith", "email": "alice@example.com" }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dirty="0"/>
                        <a:t>created employee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812593699"/>
                  </a:ext>
                </a:extLst>
              </a:tr>
              <a:tr h="58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dirty="0"/>
                        <a:t>GET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dirty="0">
                          <a:hlinkClick r:id="rId2"/>
                        </a:rPr>
                        <a:t>http://localhost:8080/api/employees</a:t>
                      </a:r>
                      <a:endParaRPr lang="en-HK" sz="1700" dirty="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—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r>
                        <a:rPr lang="en-HK" sz="1600" dirty="0">
                          <a:effectLst/>
                        </a:rPr>
                        <a:t>List of 4 employees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555297355"/>
                  </a:ext>
                </a:extLst>
              </a:tr>
              <a:tr h="58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GET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>
                          <a:hlinkClick r:id="rId3"/>
                        </a:rPr>
                        <a:t>http://localhost:8080/api/employees/1</a:t>
                      </a:r>
                      <a:endParaRPr lang="en-HK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—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Single employee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554735438"/>
                  </a:ext>
                </a:extLst>
              </a:tr>
              <a:tr h="58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PUT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>
                          <a:hlinkClick r:id="rId3"/>
                        </a:rPr>
                        <a:t>http://localhost:8080/api/employees/1</a:t>
                      </a:r>
                      <a:endParaRPr lang="en-HK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Updated JSON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Updated employee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7212613"/>
                  </a:ext>
                </a:extLst>
              </a:tr>
              <a:tr h="5820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DELETE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>
                          <a:hlinkClick r:id="rId3"/>
                        </a:rPr>
                        <a:t>http://localhost:8080/api/employees/1</a:t>
                      </a:r>
                      <a:endParaRPr lang="en-HK" sz="17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/>
                        <a:t>—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700" dirty="0"/>
                        <a:t>204 No Content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3868608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FF59C0D-D80A-A1A7-330B-C8FCC2409DD3}"/>
              </a:ext>
            </a:extLst>
          </p:cNvPr>
          <p:cNvSpPr txBox="1"/>
          <p:nvPr/>
        </p:nvSpPr>
        <p:spPr>
          <a:xfrm>
            <a:off x="839451" y="5906125"/>
            <a:ext cx="9518753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HK" dirty="0"/>
              <a:t>The entire flow (Client → </a:t>
            </a:r>
            <a:r>
              <a:rPr lang="en-HK" dirty="0" err="1"/>
              <a:t>DispatcherServlet</a:t>
            </a:r>
            <a:r>
              <a:rPr lang="en-HK" dirty="0"/>
              <a:t> → Controller → Service → Repository → H2 Database) happens automatically thanks to Spring Boot’s opinionated design.</a:t>
            </a:r>
          </a:p>
        </p:txBody>
      </p:sp>
    </p:spTree>
    <p:extLst>
      <p:ext uri="{BB962C8B-B14F-4D97-AF65-F5344CB8AC3E}">
        <p14:creationId xmlns:p14="http://schemas.microsoft.com/office/powerpoint/2010/main" val="1287179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D950-EDA7-1299-69C9-09673A89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Postman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A4C84-867D-7FF3-8A7B-7E9F9CE2E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664" y="1690688"/>
            <a:ext cx="10515600" cy="4351338"/>
          </a:xfrm>
        </p:spPr>
        <p:txBody>
          <a:bodyPr/>
          <a:lstStyle/>
          <a:p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Postman is </a:t>
            </a:r>
            <a:r>
              <a:rPr lang="en-US" dirty="0"/>
              <a:t>a popular API platform and desktop application used by developers to build, test, document, and monitor APIs</a:t>
            </a:r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It simplifies the API lifecycle </a:t>
            </a:r>
          </a:p>
          <a:p>
            <a:pPr lvl="1"/>
            <a:r>
              <a:rPr lang="en-US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by enabling users to send various HTTP requests (GET, POST, etc.) and view responses without writing extensive code. </a:t>
            </a:r>
            <a:endParaRPr lang="en-US" dirty="0"/>
          </a:p>
        </p:txBody>
      </p:sp>
      <p:pic>
        <p:nvPicPr>
          <p:cNvPr id="1026" name="Picture 2" descr="Postman | Postman API Network">
            <a:extLst>
              <a:ext uri="{FF2B5EF4-FFF2-40B4-BE49-F238E27FC236}">
                <a16:creationId xmlns:a16="http://schemas.microsoft.com/office/drawing/2014/main" id="{C94F5D3B-F228-72F1-F201-80BFB85D2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128778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883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E850-E435-0125-272C-1890AD830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 dirty="0"/>
              <a:t>Test </a:t>
            </a:r>
            <a:r>
              <a:rPr lang="en-HK" sz="5400" dirty="0">
                <a:highlight>
                  <a:srgbClr val="FFFF00"/>
                </a:highlight>
              </a:rPr>
              <a:t>GET</a:t>
            </a:r>
            <a:br>
              <a:rPr lang="en-HK" sz="5400" dirty="0"/>
            </a:br>
            <a:r>
              <a:rPr lang="en-HK" sz="5400" dirty="0"/>
              <a:t>employees</a:t>
            </a:r>
            <a:endParaRPr lang="en-GB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EEABC8-962D-6141-36E6-8D52D1E59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41624"/>
            <a:ext cx="6903720" cy="55747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2CA1FB-2D58-5820-D3F7-7ACFF9D4C540}"/>
              </a:ext>
            </a:extLst>
          </p:cNvPr>
          <p:cNvSpPr/>
          <p:nvPr/>
        </p:nvSpPr>
        <p:spPr>
          <a:xfrm>
            <a:off x="4654296" y="1109272"/>
            <a:ext cx="4059936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689F8A-660C-9C90-CCA9-8AF080F6D0F9}"/>
              </a:ext>
            </a:extLst>
          </p:cNvPr>
          <p:cNvSpPr/>
          <p:nvPr/>
        </p:nvSpPr>
        <p:spPr>
          <a:xfrm>
            <a:off x="4705861" y="2880908"/>
            <a:ext cx="5299173" cy="326331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4C381A-1E36-85ED-8394-FB4F397E4B20}"/>
              </a:ext>
            </a:extLst>
          </p:cNvPr>
          <p:cNvSpPr/>
          <p:nvPr/>
        </p:nvSpPr>
        <p:spPr>
          <a:xfrm>
            <a:off x="8007969" y="2358592"/>
            <a:ext cx="1237739" cy="76525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783A27-8D2F-58B7-BAF0-B66578D59E00}"/>
              </a:ext>
            </a:extLst>
          </p:cNvPr>
          <p:cNvSpPr txBox="1"/>
          <p:nvPr/>
        </p:nvSpPr>
        <p:spPr>
          <a:xfrm>
            <a:off x="212827" y="4689665"/>
            <a:ext cx="366497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Inter"/>
              </a:rPr>
              <a:t>http://localhost:8080/api/employees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F85D0-BE58-867F-6680-E2FD9F7E8123}"/>
              </a:ext>
            </a:extLst>
          </p:cNvPr>
          <p:cNvSpPr txBox="1"/>
          <p:nvPr/>
        </p:nvSpPr>
        <p:spPr>
          <a:xfrm>
            <a:off x="390144" y="3293296"/>
            <a:ext cx="2711170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HK" dirty="0"/>
              <a:t>Create a request and set to </a:t>
            </a:r>
            <a:r>
              <a:rPr lang="en-HK" b="1" dirty="0"/>
              <a:t>GET</a:t>
            </a:r>
            <a:endParaRPr lang="en-HK" sz="1800" b="1" dirty="0"/>
          </a:p>
        </p:txBody>
      </p:sp>
    </p:spTree>
    <p:extLst>
      <p:ext uri="{BB962C8B-B14F-4D97-AF65-F5344CB8AC3E}">
        <p14:creationId xmlns:p14="http://schemas.microsoft.com/office/powerpoint/2010/main" val="411523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7357D-CAD2-1A31-0ACA-17E5ADAA4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A2335-C9A5-5F45-7D65-F1F1FA2B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 dirty="0"/>
              <a:t>Test </a:t>
            </a:r>
            <a:r>
              <a:rPr lang="en-HK" sz="5400" dirty="0">
                <a:highlight>
                  <a:srgbClr val="FFFF00"/>
                </a:highlight>
              </a:rPr>
              <a:t>POST</a:t>
            </a:r>
            <a:br>
              <a:rPr lang="en-HK" sz="5400" dirty="0"/>
            </a:br>
            <a:r>
              <a:rPr lang="en-HK" sz="5400" dirty="0"/>
              <a:t>employees</a:t>
            </a:r>
            <a:endParaRPr lang="en-GB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A689D3-5EB3-23EF-7227-0E9392BE6B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93486" y="665410"/>
            <a:ext cx="7051322" cy="54645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77A867-2487-38B3-229E-5F512ECE42D7}"/>
              </a:ext>
            </a:extLst>
          </p:cNvPr>
          <p:cNvSpPr/>
          <p:nvPr/>
        </p:nvSpPr>
        <p:spPr>
          <a:xfrm>
            <a:off x="4654296" y="1109272"/>
            <a:ext cx="4059936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945AC-96E5-33D7-2F32-311C3FA797F7}"/>
              </a:ext>
            </a:extLst>
          </p:cNvPr>
          <p:cNvSpPr/>
          <p:nvPr/>
        </p:nvSpPr>
        <p:spPr>
          <a:xfrm>
            <a:off x="4705861" y="3665454"/>
            <a:ext cx="5462267" cy="2478766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9AA3E4-3DC3-5816-4C2C-55023F3812CC}"/>
              </a:ext>
            </a:extLst>
          </p:cNvPr>
          <p:cNvSpPr/>
          <p:nvPr/>
        </p:nvSpPr>
        <p:spPr>
          <a:xfrm>
            <a:off x="8095362" y="3665454"/>
            <a:ext cx="1237739" cy="76525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41B69-E2E3-09EC-C844-33F48E6F77FC}"/>
              </a:ext>
            </a:extLst>
          </p:cNvPr>
          <p:cNvSpPr txBox="1"/>
          <p:nvPr/>
        </p:nvSpPr>
        <p:spPr>
          <a:xfrm>
            <a:off x="282689" y="4499409"/>
            <a:ext cx="3721608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HK" sz="1800" dirty="0"/>
              <a:t>{ "</a:t>
            </a:r>
            <a:r>
              <a:rPr lang="en-HK" sz="1800" dirty="0" err="1"/>
              <a:t>firstName</a:t>
            </a:r>
            <a:r>
              <a:rPr lang="en-HK" sz="1800" dirty="0"/>
              <a:t>": "Alice", "</a:t>
            </a:r>
            <a:r>
              <a:rPr lang="en-HK" sz="1800" dirty="0" err="1"/>
              <a:t>lastName</a:t>
            </a:r>
            <a:r>
              <a:rPr lang="en-HK" sz="1800" dirty="0"/>
              <a:t>": "Smith", "email": "alice@example.com"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94CE7B-9EA9-411D-9B4B-04CE95BC4EB4}"/>
              </a:ext>
            </a:extLst>
          </p:cNvPr>
          <p:cNvSpPr txBox="1"/>
          <p:nvPr/>
        </p:nvSpPr>
        <p:spPr>
          <a:xfrm>
            <a:off x="304800" y="2940962"/>
            <a:ext cx="271117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HK" dirty="0"/>
              <a:t>Create a request and set to </a:t>
            </a:r>
            <a:r>
              <a:rPr lang="en-HK" b="1" dirty="0"/>
              <a:t>POST</a:t>
            </a:r>
            <a:endParaRPr lang="en-HK" sz="1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8DF86A-B39E-9772-1B13-BC0FACAD6385}"/>
              </a:ext>
            </a:extLst>
          </p:cNvPr>
          <p:cNvSpPr txBox="1"/>
          <p:nvPr/>
        </p:nvSpPr>
        <p:spPr>
          <a:xfrm>
            <a:off x="304800" y="3743044"/>
            <a:ext cx="408336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HK" sz="1800" b="1" dirty="0"/>
              <a:t>Update Body (JSON), </a:t>
            </a:r>
            <a:r>
              <a:rPr lang="en-HK" sz="1800" dirty="0"/>
              <a:t>Add the following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1424A0-B91D-5A2D-01D9-901EC7D1A339}"/>
              </a:ext>
            </a:extLst>
          </p:cNvPr>
          <p:cNvSpPr/>
          <p:nvPr/>
        </p:nvSpPr>
        <p:spPr>
          <a:xfrm>
            <a:off x="7328790" y="1839804"/>
            <a:ext cx="620394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A734A4-3823-78B5-3834-DFA69D3F01CB}"/>
              </a:ext>
            </a:extLst>
          </p:cNvPr>
          <p:cNvSpPr/>
          <p:nvPr/>
        </p:nvSpPr>
        <p:spPr>
          <a:xfrm>
            <a:off x="8969538" y="1833148"/>
            <a:ext cx="827457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364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C3F0-9EFC-972A-E7BB-62A18BE3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6B46D1-A0CD-25EF-67B4-947EECE8E1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52202" y="611110"/>
            <a:ext cx="7234998" cy="53292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450D95-642C-E8B6-89D2-59564D2E9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 dirty="0"/>
              <a:t>Test </a:t>
            </a:r>
            <a:r>
              <a:rPr lang="en-HK" sz="5400" dirty="0">
                <a:highlight>
                  <a:srgbClr val="FFFF00"/>
                </a:highlight>
              </a:rPr>
              <a:t>PUT</a:t>
            </a:r>
            <a:br>
              <a:rPr lang="en-HK" sz="5400" dirty="0"/>
            </a:br>
            <a:r>
              <a:rPr lang="en-HK" sz="5400" dirty="0"/>
              <a:t>employees</a:t>
            </a:r>
            <a:endParaRPr lang="en-GB" sz="5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D2C72E-2BBF-C217-F303-162E685F7EFC}"/>
              </a:ext>
            </a:extLst>
          </p:cNvPr>
          <p:cNvSpPr/>
          <p:nvPr/>
        </p:nvSpPr>
        <p:spPr>
          <a:xfrm>
            <a:off x="4654296" y="1109272"/>
            <a:ext cx="4059936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B98224-BFAF-D76F-DB6F-29A244C96309}"/>
              </a:ext>
            </a:extLst>
          </p:cNvPr>
          <p:cNvSpPr/>
          <p:nvPr/>
        </p:nvSpPr>
        <p:spPr>
          <a:xfrm>
            <a:off x="4654296" y="3830756"/>
            <a:ext cx="5299173" cy="208585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E56DAC-BE7F-BBBE-DF0C-F7502A4BD26E}"/>
              </a:ext>
            </a:extLst>
          </p:cNvPr>
          <p:cNvSpPr/>
          <p:nvPr/>
        </p:nvSpPr>
        <p:spPr>
          <a:xfrm>
            <a:off x="8095362" y="3434888"/>
            <a:ext cx="1237739" cy="76525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90787-F405-7504-DE89-F22B2B4FCB1F}"/>
              </a:ext>
            </a:extLst>
          </p:cNvPr>
          <p:cNvSpPr/>
          <p:nvPr/>
        </p:nvSpPr>
        <p:spPr>
          <a:xfrm>
            <a:off x="4654295" y="2074146"/>
            <a:ext cx="5134282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BE456-9D30-AD45-6F95-C26723243079}"/>
              </a:ext>
            </a:extLst>
          </p:cNvPr>
          <p:cNvSpPr txBox="1"/>
          <p:nvPr/>
        </p:nvSpPr>
        <p:spPr>
          <a:xfrm>
            <a:off x="282689" y="4499409"/>
            <a:ext cx="3721608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HK" sz="1800" dirty="0"/>
              <a:t>{ "</a:t>
            </a:r>
            <a:r>
              <a:rPr lang="en-HK" sz="1800" dirty="0" err="1"/>
              <a:t>firstName</a:t>
            </a:r>
            <a:r>
              <a:rPr lang="en-HK" sz="1800" dirty="0"/>
              <a:t>": “Peter", "</a:t>
            </a:r>
            <a:r>
              <a:rPr lang="en-HK" sz="1800" dirty="0" err="1"/>
              <a:t>lastName</a:t>
            </a:r>
            <a:r>
              <a:rPr lang="en-HK" sz="1800" dirty="0"/>
              <a:t>": “Lee", "email": “</a:t>
            </a:r>
            <a:r>
              <a:rPr lang="en-HK" dirty="0"/>
              <a:t>peter</a:t>
            </a:r>
            <a:r>
              <a:rPr lang="en-HK" sz="1800" dirty="0"/>
              <a:t>@example.com"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7DBB6C-45E8-FBCA-DDB0-C87F446E2422}"/>
              </a:ext>
            </a:extLst>
          </p:cNvPr>
          <p:cNvSpPr txBox="1"/>
          <p:nvPr/>
        </p:nvSpPr>
        <p:spPr>
          <a:xfrm>
            <a:off x="304800" y="2940962"/>
            <a:ext cx="2711170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HK" dirty="0"/>
              <a:t>Create a request and set to </a:t>
            </a:r>
            <a:r>
              <a:rPr lang="en-HK" b="1" dirty="0"/>
              <a:t>PUT</a:t>
            </a:r>
            <a:endParaRPr lang="en-HK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0FC88A-06DF-5DF8-0101-AA3C7758BDA1}"/>
              </a:ext>
            </a:extLst>
          </p:cNvPr>
          <p:cNvSpPr txBox="1"/>
          <p:nvPr/>
        </p:nvSpPr>
        <p:spPr>
          <a:xfrm>
            <a:off x="304800" y="3743044"/>
            <a:ext cx="408336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HK" sz="1800" b="1" dirty="0"/>
              <a:t>Update Body (JSON), </a:t>
            </a:r>
            <a:r>
              <a:rPr lang="en-HK" sz="1800" dirty="0"/>
              <a:t>Add the following</a:t>
            </a:r>
          </a:p>
        </p:txBody>
      </p:sp>
    </p:spTree>
    <p:extLst>
      <p:ext uri="{BB962C8B-B14F-4D97-AF65-F5344CB8AC3E}">
        <p14:creationId xmlns:p14="http://schemas.microsoft.com/office/powerpoint/2010/main" val="93802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E1F6-9D16-E7A5-7317-1EE543BF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C94E5-CC9D-1250-53E5-5B9DBCBA8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09998" y="639520"/>
            <a:ext cx="6541616" cy="54618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65DC55-969A-54B1-BF58-91E25B69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 fontScale="90000"/>
          </a:bodyPr>
          <a:lstStyle/>
          <a:p>
            <a:r>
              <a:rPr lang="en-GB" sz="5400" dirty="0"/>
              <a:t>Test </a:t>
            </a:r>
            <a:r>
              <a:rPr lang="en-HK" sz="5400" dirty="0">
                <a:highlight>
                  <a:srgbClr val="FFFF00"/>
                </a:highlight>
              </a:rPr>
              <a:t>GET</a:t>
            </a:r>
            <a:br>
              <a:rPr lang="en-HK" sz="5400" dirty="0"/>
            </a:br>
            <a:r>
              <a:rPr lang="en-HK" sz="5400" dirty="0" err="1"/>
              <a:t>employeeById</a:t>
            </a:r>
            <a:endParaRPr lang="en-GB" sz="5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F7EA98-BFDD-106B-C96D-725C4F487118}"/>
              </a:ext>
            </a:extLst>
          </p:cNvPr>
          <p:cNvSpPr/>
          <p:nvPr/>
        </p:nvSpPr>
        <p:spPr>
          <a:xfrm>
            <a:off x="4654296" y="1109272"/>
            <a:ext cx="4059936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5A7305-2838-7CDF-4D8C-4816D2171803}"/>
              </a:ext>
            </a:extLst>
          </p:cNvPr>
          <p:cNvSpPr/>
          <p:nvPr/>
        </p:nvSpPr>
        <p:spPr>
          <a:xfrm>
            <a:off x="4654296" y="3830756"/>
            <a:ext cx="5299173" cy="208585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9F7D4A-CDFE-6E83-5A72-0B863B8E3209}"/>
              </a:ext>
            </a:extLst>
          </p:cNvPr>
          <p:cNvSpPr/>
          <p:nvPr/>
        </p:nvSpPr>
        <p:spPr>
          <a:xfrm>
            <a:off x="8095362" y="3434888"/>
            <a:ext cx="1237739" cy="76525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52109-94B8-6269-DAA2-6AF23D9FBDE7}"/>
              </a:ext>
            </a:extLst>
          </p:cNvPr>
          <p:cNvSpPr txBox="1"/>
          <p:nvPr/>
        </p:nvSpPr>
        <p:spPr>
          <a:xfrm>
            <a:off x="302648" y="4314743"/>
            <a:ext cx="387176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Inter"/>
              </a:rPr>
              <a:t>http://localhost:8080/api/employees/1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502A6E-3C7A-A8E3-7DB1-C605AE7021BB}"/>
              </a:ext>
            </a:extLst>
          </p:cNvPr>
          <p:cNvSpPr txBox="1"/>
          <p:nvPr/>
        </p:nvSpPr>
        <p:spPr>
          <a:xfrm>
            <a:off x="390144" y="3293296"/>
            <a:ext cx="271117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HK" dirty="0"/>
              <a:t>Create a request and set to </a:t>
            </a:r>
            <a:r>
              <a:rPr lang="en-HK" b="1" dirty="0"/>
              <a:t>GET</a:t>
            </a:r>
            <a:endParaRPr lang="en-HK" sz="1800" b="1" dirty="0"/>
          </a:p>
        </p:txBody>
      </p:sp>
    </p:spTree>
    <p:extLst>
      <p:ext uri="{BB962C8B-B14F-4D97-AF65-F5344CB8AC3E}">
        <p14:creationId xmlns:p14="http://schemas.microsoft.com/office/powerpoint/2010/main" val="2920907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7DAE-2601-227F-7F91-FDCEA0CFD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D100EC-5241-3DBF-9AC8-E60D66A15E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54296" y="639520"/>
            <a:ext cx="6711874" cy="54648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0A4697-1B79-3C47-187A-D9F6CD67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 dirty="0"/>
              <a:t>Test </a:t>
            </a:r>
            <a:r>
              <a:rPr lang="en-HK" sz="5400" dirty="0">
                <a:highlight>
                  <a:srgbClr val="FFFF00"/>
                </a:highlight>
              </a:rPr>
              <a:t>delete</a:t>
            </a:r>
            <a:br>
              <a:rPr lang="en-HK" sz="5400" dirty="0"/>
            </a:br>
            <a:endParaRPr lang="en-GB" sz="5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6CBAB-497C-B5EB-CCA8-80C0698D2E6C}"/>
              </a:ext>
            </a:extLst>
          </p:cNvPr>
          <p:cNvSpPr/>
          <p:nvPr/>
        </p:nvSpPr>
        <p:spPr>
          <a:xfrm>
            <a:off x="4654296" y="1109272"/>
            <a:ext cx="4059936" cy="314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FC54FE-50D2-0E47-38CF-D62A20BF5C47}"/>
              </a:ext>
            </a:extLst>
          </p:cNvPr>
          <p:cNvSpPr/>
          <p:nvPr/>
        </p:nvSpPr>
        <p:spPr>
          <a:xfrm>
            <a:off x="4654296" y="3830756"/>
            <a:ext cx="5299173" cy="208585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AFADFB-D9BC-E678-7A72-C30D83E15618}"/>
              </a:ext>
            </a:extLst>
          </p:cNvPr>
          <p:cNvSpPr/>
          <p:nvPr/>
        </p:nvSpPr>
        <p:spPr>
          <a:xfrm>
            <a:off x="8095362" y="3434888"/>
            <a:ext cx="1237739" cy="76525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1CECF3-A120-F530-FEA2-162204D451F7}"/>
              </a:ext>
            </a:extLst>
          </p:cNvPr>
          <p:cNvSpPr txBox="1"/>
          <p:nvPr/>
        </p:nvSpPr>
        <p:spPr>
          <a:xfrm>
            <a:off x="302648" y="4314743"/>
            <a:ext cx="387176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0" i="0" dirty="0">
                <a:solidFill>
                  <a:srgbClr val="212121"/>
                </a:solidFill>
                <a:effectLst/>
                <a:latin typeface="Inter"/>
              </a:rPr>
              <a:t>http://localhost:8080/api/employees/1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3D02CB-DDE2-C2DE-8DCB-FE5BD8A05F41}"/>
              </a:ext>
            </a:extLst>
          </p:cNvPr>
          <p:cNvSpPr txBox="1"/>
          <p:nvPr/>
        </p:nvSpPr>
        <p:spPr>
          <a:xfrm>
            <a:off x="390144" y="3293296"/>
            <a:ext cx="271117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HK" dirty="0"/>
              <a:t>Create a request and set to </a:t>
            </a:r>
            <a:r>
              <a:rPr lang="en-HK" b="1" dirty="0"/>
              <a:t>DELETE</a:t>
            </a:r>
            <a:endParaRPr lang="en-HK" sz="1800" b="1" dirty="0"/>
          </a:p>
        </p:txBody>
      </p:sp>
    </p:spTree>
    <p:extLst>
      <p:ext uri="{BB962C8B-B14F-4D97-AF65-F5344CB8AC3E}">
        <p14:creationId xmlns:p14="http://schemas.microsoft.com/office/powerpoint/2010/main" val="3976227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2C14B3-1834-C546-F0C1-0E5CA10D1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731328"/>
              </p:ext>
            </p:extLst>
          </p:nvPr>
        </p:nvGraphicFramePr>
        <p:xfrm>
          <a:off x="79945" y="641402"/>
          <a:ext cx="12112055" cy="60753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422411">
                  <a:extLst>
                    <a:ext uri="{9D8B030D-6E8A-4147-A177-3AD203B41FA5}">
                      <a16:colId xmlns:a16="http://schemas.microsoft.com/office/drawing/2014/main" val="2675278581"/>
                    </a:ext>
                  </a:extLst>
                </a:gridCol>
                <a:gridCol w="2422411">
                  <a:extLst>
                    <a:ext uri="{9D8B030D-6E8A-4147-A177-3AD203B41FA5}">
                      <a16:colId xmlns:a16="http://schemas.microsoft.com/office/drawing/2014/main" val="1338362716"/>
                    </a:ext>
                  </a:extLst>
                </a:gridCol>
                <a:gridCol w="2422411">
                  <a:extLst>
                    <a:ext uri="{9D8B030D-6E8A-4147-A177-3AD203B41FA5}">
                      <a16:colId xmlns:a16="http://schemas.microsoft.com/office/drawing/2014/main" val="719863151"/>
                    </a:ext>
                  </a:extLst>
                </a:gridCol>
                <a:gridCol w="2422411">
                  <a:extLst>
                    <a:ext uri="{9D8B030D-6E8A-4147-A177-3AD203B41FA5}">
                      <a16:colId xmlns:a16="http://schemas.microsoft.com/office/drawing/2014/main" val="1097165956"/>
                    </a:ext>
                  </a:extLst>
                </a:gridCol>
                <a:gridCol w="2422411">
                  <a:extLst>
                    <a:ext uri="{9D8B030D-6E8A-4147-A177-3AD203B41FA5}">
                      <a16:colId xmlns:a16="http://schemas.microsoft.com/office/drawing/2014/main" val="3241282259"/>
                    </a:ext>
                  </a:extLst>
                </a:gridCol>
              </a:tblGrid>
              <a:tr h="252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b="1" dirty="0"/>
                        <a:t>HTTP Method</a:t>
                      </a:r>
                      <a:endParaRPr lang="en-HK" sz="1600" b="1" dirty="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b="1" dirty="0"/>
                        <a:t>URL</a:t>
                      </a:r>
                      <a:endParaRPr lang="en-HK" sz="1600" b="1" dirty="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b="1"/>
                        <a:t>Body (JSON)</a:t>
                      </a:r>
                      <a:endParaRPr lang="en-HK" sz="1600" b="1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b="1"/>
                        <a:t>cURL Command</a:t>
                      </a:r>
                      <a:endParaRPr lang="en-HK" sz="1600" b="1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b="1" dirty="0"/>
                        <a:t>Expected Result</a:t>
                      </a:r>
                      <a:endParaRPr lang="en-HK" sz="1600" b="1" dirty="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extLst>
                  <a:ext uri="{0D108BD9-81ED-4DB2-BD59-A6C34878D82A}">
                    <a16:rowId xmlns:a16="http://schemas.microsoft.com/office/drawing/2014/main" val="3459085550"/>
                  </a:ext>
                </a:extLst>
              </a:tr>
              <a:tr h="1566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POST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dirty="0">
                          <a:hlinkClick r:id="rId2"/>
                        </a:rPr>
                        <a:t>http://localhost:8080/api/employees</a:t>
                      </a:r>
                      <a:endParaRPr lang="en-HK" sz="1600" dirty="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dirty="0"/>
                        <a:t>{"</a:t>
                      </a:r>
                      <a:r>
                        <a:rPr lang="en-HK" sz="1600" dirty="0" err="1"/>
                        <a:t>firstName</a:t>
                      </a:r>
                      <a:r>
                        <a:rPr lang="en-HK" sz="1600" dirty="0"/>
                        <a:t>": "Alice", "</a:t>
                      </a:r>
                      <a:r>
                        <a:rPr lang="en-HK" sz="1600" dirty="0" err="1"/>
                        <a:t>lastName</a:t>
                      </a:r>
                      <a:r>
                        <a:rPr lang="en-HK" sz="1600" dirty="0"/>
                        <a:t>": "Smith", "email": "</a:t>
                      </a:r>
                      <a:r>
                        <a:rPr lang="en-HK" sz="1600" dirty="0">
                          <a:hlinkClick r:id="rId3"/>
                        </a:rPr>
                        <a:t>alice@example.com</a:t>
                      </a:r>
                      <a:r>
                        <a:rPr lang="en-HK" sz="1600" dirty="0"/>
                        <a:t>"}</a:t>
                      </a:r>
                      <a:endParaRPr lang="en-HK" sz="1600" dirty="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dirty="0"/>
                        <a:t>curl -X POST http://localhost:8080/</a:t>
                      </a:r>
                      <a:r>
                        <a:rPr lang="en-HK" sz="1600" dirty="0" err="1"/>
                        <a:t>api</a:t>
                      </a:r>
                      <a:r>
                        <a:rPr lang="en-HK" sz="1600" dirty="0"/>
                        <a:t>/employees -H "Content-Type: application/</a:t>
                      </a:r>
                      <a:r>
                        <a:rPr lang="en-HK" sz="1600" dirty="0" err="1"/>
                        <a:t>json</a:t>
                      </a:r>
                      <a:r>
                        <a:rPr lang="en-HK" sz="1600" dirty="0"/>
                        <a:t>" -d '{"firstName":"Alice","lastName":"Smith","email":"alice@example.com"}'</a:t>
                      </a:r>
                      <a:endParaRPr lang="en-HK" sz="1600" dirty="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Employee created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extLst>
                  <a:ext uri="{0D108BD9-81ED-4DB2-BD59-A6C34878D82A}">
                    <a16:rowId xmlns:a16="http://schemas.microsoft.com/office/drawing/2014/main" val="980330570"/>
                  </a:ext>
                </a:extLst>
              </a:tr>
              <a:tr h="69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GET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>
                          <a:hlinkClick r:id="rId2"/>
                        </a:rPr>
                        <a:t>http://localhost:8080/api/employees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—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curl -X GET http://localhost:8080/api/employees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dirty="0"/>
                        <a:t>List of 4+ employees</a:t>
                      </a:r>
                      <a:endParaRPr lang="en-HK" sz="1600" dirty="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extLst>
                  <a:ext uri="{0D108BD9-81ED-4DB2-BD59-A6C34878D82A}">
                    <a16:rowId xmlns:a16="http://schemas.microsoft.com/office/drawing/2014/main" val="3004239324"/>
                  </a:ext>
                </a:extLst>
              </a:tr>
              <a:tr h="69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GET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>
                          <a:hlinkClick r:id="rId4"/>
                        </a:rPr>
                        <a:t>http://localhost:8080/api/employees/1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—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curl -X GET http://localhost:8080/api/employees/1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Single employee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extLst>
                  <a:ext uri="{0D108BD9-81ED-4DB2-BD59-A6C34878D82A}">
                    <a16:rowId xmlns:a16="http://schemas.microsoft.com/office/drawing/2014/main" val="1528743361"/>
                  </a:ext>
                </a:extLst>
              </a:tr>
              <a:tr h="1566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PUT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>
                          <a:hlinkClick r:id="rId4"/>
                        </a:rPr>
                        <a:t>http://localhost:8080/api/employees/1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{"firstName": "Peter", "lastName": "Lee", "email": "</a:t>
                      </a:r>
                      <a:r>
                        <a:rPr lang="en-HK" sz="1600">
                          <a:hlinkClick r:id="rId5"/>
                        </a:rPr>
                        <a:t>peter@example.com</a:t>
                      </a:r>
                      <a:r>
                        <a:rPr lang="en-HK" sz="1600"/>
                        <a:t>"}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curl -X PUT http://localhost:8080/api/employees/1 -H "Content-Type: application/json" -d '{"firstName":"Peter","lastName":"Lee","email":"peter@example.com"}'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Employee updated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extLst>
                  <a:ext uri="{0D108BD9-81ED-4DB2-BD59-A6C34878D82A}">
                    <a16:rowId xmlns:a16="http://schemas.microsoft.com/office/drawing/2014/main" val="3162945413"/>
                  </a:ext>
                </a:extLst>
              </a:tr>
              <a:tr h="690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DELETE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>
                          <a:hlinkClick r:id="rId4"/>
                        </a:rPr>
                        <a:t>http://localhost:8080/api/employees/1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—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/>
                        <a:t>curl -X DELETE http://localhost:8080/api/employees/1</a:t>
                      </a:r>
                      <a:endParaRPr lang="en-HK" sz="160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HK" sz="1600" dirty="0"/>
                        <a:t>204 No Content</a:t>
                      </a:r>
                      <a:endParaRPr lang="en-HK" sz="1600" dirty="0">
                        <a:latin typeface="+mn-lt"/>
                      </a:endParaRPr>
                    </a:p>
                  </a:txBody>
                  <a:tcPr marL="37191" marR="37191" marT="18595" marB="18595" anchor="ctr"/>
                </a:tc>
                <a:extLst>
                  <a:ext uri="{0D108BD9-81ED-4DB2-BD59-A6C34878D82A}">
                    <a16:rowId xmlns:a16="http://schemas.microsoft.com/office/drawing/2014/main" val="3486720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1594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7255F9-50EF-1659-777F-7AAE9B5F4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Workshop Summary &amp; Q&amp;A</a:t>
            </a:r>
            <a:br>
              <a:rPr lang="en-HK" dirty="0"/>
            </a:br>
            <a:endParaRPr lang="en-GB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0D480A9-7EDF-5967-3917-5D5255928F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8938" y="3079341"/>
            <a:ext cx="973486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have successfully built a production-ready RESTful CRUD API using Spring Boot, JPA, and a clean layered architecture.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DispatcherServlet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handles all request routing.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with Postman 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confirms full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560346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461</TotalTime>
  <Words>2818</Words>
  <Application>Microsoft Office PowerPoint</Application>
  <PresentationFormat>Widescreen</PresentationFormat>
  <Paragraphs>397</Paragraphs>
  <Slides>32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Inter</vt:lpstr>
      <vt:lpstr>Arial</vt:lpstr>
      <vt:lpstr>Calibri</vt:lpstr>
      <vt:lpstr>Calibri Light</vt:lpstr>
      <vt:lpstr>Courier New</vt:lpstr>
      <vt:lpstr>Office 2013 - 2022 Theme</vt:lpstr>
      <vt:lpstr>Building a RESTful Employee Management API with Spring Boot</vt:lpstr>
      <vt:lpstr>Learning Objectives </vt:lpstr>
      <vt:lpstr>Prerequisites </vt:lpstr>
      <vt:lpstr>Project Overview</vt:lpstr>
      <vt:lpstr>Spring boot?</vt:lpstr>
      <vt:lpstr>To lists</vt:lpstr>
      <vt:lpstr>Step 1 Create Spring boot Project</vt:lpstr>
      <vt:lpstr>Generate the Project with Spring Initializr</vt:lpstr>
      <vt:lpstr>Add dependencies (search and select)</vt:lpstr>
      <vt:lpstr>PowerPoint Presentation</vt:lpstr>
      <vt:lpstr>PowerPoint Presentation</vt:lpstr>
      <vt:lpstr>PowerPoint Presentation</vt:lpstr>
      <vt:lpstr>You can update the name of the project</vt:lpstr>
      <vt:lpstr>Employee-api project is imported</vt:lpstr>
      <vt:lpstr>Step 2  Model Layer (Employee Entity)</vt:lpstr>
      <vt:lpstr>Step 3: Persistence Layer – Repository</vt:lpstr>
      <vt:lpstr>Step 4: Create the Business Layer – Service  </vt:lpstr>
      <vt:lpstr>Step 4: Create the Business Layer – Service </vt:lpstr>
      <vt:lpstr>Step 5:  Presentation Layer – REST Controller</vt:lpstr>
      <vt:lpstr>Step 5: Create the Presentation Layer – REST Controller</vt:lpstr>
      <vt:lpstr>Step 6 Employee Data Initializer Class</vt:lpstr>
      <vt:lpstr>Step 6 Employee Data Initializer Class</vt:lpstr>
      <vt:lpstr>Right Click “EmployeeApiApplication” and Click “Run”</vt:lpstr>
      <vt:lpstr>Step 7: Run and Test the API with Postman App</vt:lpstr>
      <vt:lpstr>Postman</vt:lpstr>
      <vt:lpstr>Test GET employees</vt:lpstr>
      <vt:lpstr>Test POST employees</vt:lpstr>
      <vt:lpstr>Test PUT employees</vt:lpstr>
      <vt:lpstr>Test GET employeeById</vt:lpstr>
      <vt:lpstr>Test delete </vt:lpstr>
      <vt:lpstr>PowerPoint Presentation</vt:lpstr>
      <vt:lpstr>Workshop Summary &amp; Q&amp;A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Spring Boot</dc:title>
  <dc:creator>SHUM LOK CHEUNG</dc:creator>
  <cp:lastModifiedBy>a1</cp:lastModifiedBy>
  <cp:revision>168</cp:revision>
  <dcterms:created xsi:type="dcterms:W3CDTF">2023-03-24T08:21:06Z</dcterms:created>
  <dcterms:modified xsi:type="dcterms:W3CDTF">2026-04-15T03:18:01Z</dcterms:modified>
</cp:coreProperties>
</file>